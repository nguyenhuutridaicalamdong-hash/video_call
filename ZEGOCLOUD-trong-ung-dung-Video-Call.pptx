
<file path=[Content_Types].xml><?xml version="1.0" encoding="utf-8"?>
<Types xmlns="http://schemas.openxmlformats.org/package/2006/content-types">
  <Default Extension="fntdata" ContentType="application/x-fontdata"/>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slideMasters/slideMaster11.xml" ContentType="application/vnd.openxmlformats-officedocument.presentationml.slideMaster+xml"/>
  <Override PartName="/ppt/slides/slide11.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true" autoCompressPictures="0" embedTrueTypeFonts="true">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Lst>
  <p:notesMasterIdLst>
    <p:notesMasterId r:id="rId13"/>
  </p:notesMasterIdLst>
  <p:sldSz cx="12191695" cy="6858000"/>
  <p:notesSz cx="6858000" cy="12191695"/>
  <p:embeddedFontLst>
    <p:embeddedFont>
      <p:font typeface="Fraunces"/>
      <p:regular r:id="rId201314"/>
    </p:embeddedFont>
    <p:embeddedFont>
      <p:font typeface="Fraunces SemiBold"/>
      <p:regular r:id="rId201315"/>
    </p:embeddedFont>
    <p:embeddedFont>
      <p:font typeface="Fraunces Bold"/>
      <p:regular r:id="rId201316"/>
    </p:embeddedFont>
    <p:embeddedFont>
      <p:font typeface="Hanken Grotesk"/>
      <p:regular r:id="rId201317"/>
    </p:embeddedFont>
    <p:embeddedFont>
      <p:font typeface="Hanken Grotesk SemiBold"/>
      <p:regular r:id="rId201318"/>
    </p:embeddedFont>
    <p:embeddedFont>
      <p:font typeface="Hanken Grotesk Bold"/>
      <p:regular r:id="rId201319"/>
    </p:embeddedFont>
  </p:embeddedFontLst>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notesMaster" Target="notesMasters/notesMaster1.xml"/><Relationship Id="rId14" Type="http://schemas.openxmlformats.org/officeDocument/2006/relationships/presProps" Target="presProps.xml"/><Relationship Id="rId15" Type="http://schemas.openxmlformats.org/officeDocument/2006/relationships/viewProps" Target="viewProps.xml"/><Relationship Id="rId16" Type="http://schemas.openxmlformats.org/officeDocument/2006/relationships/theme" Target="theme/theme1.xml"/><Relationship Id="rId17" Type="http://schemas.openxmlformats.org/officeDocument/2006/relationships/tableStyles" Target="tableStyles.xml"/><Relationship Id="rId201314" Target="fonts/201314.fntdata" Type="http://schemas.openxmlformats.org/officeDocument/2006/relationships/font"/><Relationship Id="rId201315" Target="fonts/201315.fntdata" Type="http://schemas.openxmlformats.org/officeDocument/2006/relationships/font"/><Relationship Id="rId201316" Target="fonts/201316.fntdata" Type="http://schemas.openxmlformats.org/officeDocument/2006/relationships/font"/><Relationship Id="rId201317" Target="fonts/201317.fntdata" Type="http://schemas.openxmlformats.org/officeDocument/2006/relationships/font"/><Relationship Id="rId201318" Target="fonts/201318.fntdata" Type="http://schemas.openxmlformats.org/officeDocument/2006/relationships/font"/><Relationship Id="rId201319" Target="fonts/201319.fntdata" Type="http://schemas.openxmlformats.org/officeDocument/2006/relationships/font"/></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Mở đầu bằng câu hỏi: khi xây dựng Video Call, phần khó nằm ở giao diện hay ở luồng media phía sau? Bài trình bày cho thấy VCall phân chia hai phần đó như thế nào.</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Nhấn mạnh đây không chỉ là bài toán dựng hai khung hình. Audio, video, thiết bị và kết nối đều phải hoạt động cùng nhau.</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Đây là ranh giới quan trọng của kiến trúc: Flutter điều phối trải nghiệm, còn ZEGOCLOUD cung cấp lớp giao tiếp thời gian thực.</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Không chỉ có một lý do. Nhóm chọn vì SDK phù hợp với Flutter, có sẵn nhiều năng lực gọi, và đặc biệt phù hợp với phạm vi prototype, demo môn học.</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Đi từ trái sang phải: người dùng thao tác trên Flutter, ứng dụng gọi SDK, ZEGOCLOUD xử lý luồng realtime, rồi luồng media quay về phía người dùng B.</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Bốn định danh trả lời bốn câu hỏi: project nào, kết nối có được xác thực không, ai đang gọi, và cuộc gọi nào đang diễn ra.</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Đây là luồng người dùng có thể theo dõi được: từ đăng nhập, chọn người, tạo Call ID, cấp quyền, nhìn thấy hai luồng video, rồi kết thúc cuộc gọi.</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Trải nghiệm không cần phức tạp. Người dùng cần thấy người đối diện, biết ai đang gọi, biết cuộc gọi kéo dài bao lâu, và có các nút điều khiển chính.</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So sánh không phải Call Kit tốt hơn trong mọi trường hợp. Với prototype, tốc độ triển khai quan trọng hơn. Khi yêu cầu đặc thù tăng, SDK cấp thấp cho nhiều quyền kiểm soát hơn.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Khép lại bằng những gì demo đã làm được và những gì chưa nằm trong phạm vi. VCall chứng minh được luồng cốt lõi; các bài toán hạ tầng sâu hơn vẫn là những bước tiếp theo.</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3" Type="http://schemas.openxmlformats.org/officeDocument/2006/relationships/hyperlink" Target="https://gamma.app/?utm_source=made-with-gamma" TargetMode="External"/><Relationship Id="rId1" Type="http://schemas.openxmlformats.org/officeDocument/2006/relationships/image" Target="../media/image-1002-1.jpeg"/><Relationship Id="rId2" Type="http://schemas.openxmlformats.org/officeDocument/2006/relationships/image" Target="../media/image-1002-2.png"/><Relationship Id="rId4"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2" Type="http://schemas.openxmlformats.org/officeDocument/2006/relationships/hyperlink" Target="https://gamma.app/?utm_source=made-with-gamma" TargetMode="External"/><Relationship Id="rId1" Type="http://schemas.openxmlformats.org/officeDocument/2006/relationships/image" Target="../media/image-1002-2.png"/><Relationship Id="rId3"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p:cSld name="Slide master 1">
    <p:spTree>
      <p:nvGrpSpPr>
        <p:cNvPr id="1" name=""/>
        <p:cNvGrpSpPr/>
        <p:nvPr/>
      </p:nvGrpSpPr>
      <p:grpSpPr>
        <a:xfrm>
          <a:off x="0" y="0"/>
          <a:ext cx="0" cy="0"/>
          <a:chOff x="0" y="0"/>
          <a:chExt cx="0" cy="0"/>
        </a:xfrm>
      </p:grpSpPr>
      <p:sp>
        <p:nvSpPr>
          <p:cNvPr id="2" name="Shape 0"/>
          <p:cNvSpPr/>
          <p:nvPr/>
        </p:nvSpPr>
        <p:spPr>
          <a:xfrm>
            <a:off x="0" y="0"/>
            <a:ext cx="12191695" cy="6858000"/>
          </a:xfrm>
          <a:prstGeom prst="rect">
            <a:avLst/>
          </a:prstGeom>
          <a:solidFill>
            <a:srgbClr val="E4D5B9"/>
          </a:solidFill>
          <a:ln/>
        </p:spPr>
      </p:sp>
      <p:sp>
        <p:nvSpPr>
          <p:cNvPr id="3" name="Shape 1"/>
          <p:cNvSpPr/>
          <p:nvPr/>
        </p:nvSpPr>
        <p:spPr>
          <a:xfrm>
            <a:off x="0" y="0"/>
            <a:ext cx="12191695" cy="6858000"/>
          </a:xfrm>
          <a:prstGeom prst="rect">
            <a:avLst/>
          </a:prstGeom>
          <a:solidFill>
            <a:srgbClr val="EEF6F1"/>
          </a:solidFill>
          <a:ln/>
        </p:spPr>
      </p:sp>
      <p:pic>
        <p:nvPicPr>
          <p:cNvPr id="4" name="Image 0" descr="preencoded.png">    </p:cNvPr>
          <p:cNvPicPr>
            <a:picLocks noChangeAspect="1"/>
          </p:cNvPicPr>
          <p:nvPr/>
        </p:nvPicPr>
        <p:blipFill>
          <a:blip r:embed="rId1"/>
          <a:stretch>
            <a:fillRect/>
          </a:stretch>
        </p:blipFill>
        <p:spPr>
          <a:xfrm>
            <a:off x="0" y="0"/>
            <a:ext cx="12191695" cy="6858000"/>
          </a:xfrm>
          <a:prstGeom prst="rect">
            <a:avLst/>
          </a:prstGeom>
        </p:spPr>
      </p:pic>
      <p:sp>
        <p:nvSpPr>
          <p:cNvPr id="5" name="Shape 2"/>
          <p:cNvSpPr/>
          <p:nvPr/>
        </p:nvSpPr>
        <p:spPr>
          <a:xfrm>
            <a:off x="0" y="0"/>
            <a:ext cx="12191695" cy="6858000"/>
          </a:xfrm>
          <a:prstGeom prst="rect">
            <a:avLst/>
          </a:prstGeom>
          <a:solidFill>
            <a:srgbClr val="000000">
              <a:alpha val="38000"/>
            </a:srgbClr>
          </a:solidFill>
          <a:ln/>
        </p:spPr>
      </p:sp>
      <p:pic>
        <p:nvPicPr>
          <p:cNvPr id="6" name="Image 1" descr="preencoded.png">
            <a:hlinkClick r:id="rId3" tooltip=""/>
          </p:cNvPr>
          <p:cNvPicPr>
            <a:picLocks noChangeAspect="1"/>
          </p:cNvPicPr>
          <p:nvPr/>
        </p:nvPicPr>
        <p:blipFill>
          <a:blip r:embed="rId2"/>
          <a:stretch>
            <a:fillRect/>
          </a:stretch>
        </p:blipFill>
        <p:spPr>
          <a:xfrm>
            <a:off x="11076875" y="6558991"/>
            <a:ext cx="1071843" cy="256032"/>
          </a:xfrm>
          <a:prstGeom prst="rect">
            <a:avLst/>
          </a:prstGeom>
        </p:spPr>
      </p:pic>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p:cSld name="Slide master 2">
    <p:spTree>
      <p:nvGrpSpPr>
        <p:cNvPr id="1" name=""/>
        <p:cNvGrpSpPr/>
        <p:nvPr/>
      </p:nvGrpSpPr>
      <p:grpSpPr>
        <a:xfrm>
          <a:off x="0" y="0"/>
          <a:ext cx="0" cy="0"/>
          <a:chOff x="0" y="0"/>
          <a:chExt cx="0" cy="0"/>
        </a:xfrm>
      </p:grpSpPr>
      <p:sp>
        <p:nvSpPr>
          <p:cNvPr id="2" name="Shape 0"/>
          <p:cNvSpPr/>
          <p:nvPr/>
        </p:nvSpPr>
        <p:spPr>
          <a:xfrm>
            <a:off x="0" y="0"/>
            <a:ext cx="12191695" cy="6858000"/>
          </a:xfrm>
          <a:prstGeom prst="rect">
            <a:avLst/>
          </a:prstGeom>
          <a:solidFill>
            <a:srgbClr val="E4D5B9"/>
          </a:solidFill>
          <a:ln/>
        </p:spPr>
      </p:sp>
      <p:sp>
        <p:nvSpPr>
          <p:cNvPr id="3" name="Shape 1"/>
          <p:cNvSpPr/>
          <p:nvPr/>
        </p:nvSpPr>
        <p:spPr>
          <a:xfrm>
            <a:off x="0" y="0"/>
            <a:ext cx="12191695" cy="6858000"/>
          </a:xfrm>
          <a:prstGeom prst="rect">
            <a:avLst/>
          </a:prstGeom>
          <a:solidFill>
            <a:srgbClr val="EEF6F1"/>
          </a:solidFill>
          <a:ln/>
        </p:spPr>
      </p:sp>
      <p:pic>
        <p:nvPicPr>
          <p:cNvPr id="4" name="Image 0" descr="preencoded.png">
            <a:hlinkClick r:id="rId2" tooltip=""/>
          </p:cNvPr>
          <p:cNvPicPr>
            <a:picLocks noChangeAspect="1"/>
          </p:cNvPicPr>
          <p:nvPr/>
        </p:nvPicPr>
        <p:blipFill>
          <a:blip r:embed="rId1"/>
          <a:stretch>
            <a:fillRect/>
          </a:stretch>
        </p:blipFill>
        <p:spPr>
          <a:xfrm>
            <a:off x="11076875" y="6558991"/>
            <a:ext cx="1071843" cy="256032"/>
          </a:xfrm>
          <a:prstGeom prst="rect">
            <a:avLst/>
          </a:prstGeom>
        </p:spPr>
      </p:pic>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image" Target="../media/image-3-1.png"/><Relationship Id="rId2" Type="http://schemas.openxmlformats.org/officeDocument/2006/relationships/image" Target="../media/image-3-2.png"/><Relationship Id="rId3" Type="http://schemas.openxmlformats.org/officeDocument/2006/relationships/image" Target="../media/image-3-3.png"/><Relationship Id="rId4" Type="http://schemas.openxmlformats.org/officeDocument/2006/relationships/slideLayout" Target="../slideLayouts/slideLayout3.xml"/><Relationship Id="rId5"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image" Target="../media/image-4-1.png"/><Relationship Id="rId2" Type="http://schemas.openxmlformats.org/officeDocument/2006/relationships/image" Target="../media/image-4-2.png"/><Relationship Id="rId3" Type="http://schemas.openxmlformats.org/officeDocument/2006/relationships/image" Target="../media/image-4-3.png"/><Relationship Id="rId4" Type="http://schemas.openxmlformats.org/officeDocument/2006/relationships/image" Target="../media/image-4-4.png"/><Relationship Id="rId5" Type="http://schemas.openxmlformats.org/officeDocument/2006/relationships/image" Target="../media/image-4-5.png"/><Relationship Id="rId6" Type="http://schemas.openxmlformats.org/officeDocument/2006/relationships/slideLayout" Target="../slideLayouts/slideLayout3.xml"/><Relationship Id="rId7"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image" Target="../media/image-6-1.png"/><Relationship Id="rId2" Type="http://schemas.openxmlformats.org/officeDocument/2006/relationships/image" Target="../media/image-6-1.png"/><Relationship Id="rId3" Type="http://schemas.openxmlformats.org/officeDocument/2006/relationships/image" Target="../media/image-6-1.png"/><Relationship Id="rId4" Type="http://schemas.openxmlformats.org/officeDocument/2006/relationships/image" Target="../media/image-6-1.png"/><Relationship Id="rId5" Type="http://schemas.openxmlformats.org/officeDocument/2006/relationships/slideLayout" Target="../slideLayouts/slideLayout3.xml"/><Relationship Id="rId6"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image" Target="../media/image-9-1.png"/><Relationship Id="rId2" Type="http://schemas.openxmlformats.org/officeDocument/2006/relationships/image" Target="../media/image-9-2.png"/><Relationship Id="rId3" Type="http://schemas.openxmlformats.org/officeDocument/2006/relationships/image" Target="../media/image-9-3.png"/><Relationship Id="rId4" Type="http://schemas.openxmlformats.org/officeDocument/2006/relationships/image" Target="../media/image-9-4.png"/><Relationship Id="rId5" Type="http://schemas.openxmlformats.org/officeDocument/2006/relationships/slideLayout" Target="../slideLayouts/slideLayout3.xml"/><Relationship Id="rId6"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image" Target="../media/image-11-1.png"/><Relationship Id="rId2" Type="http://schemas.openxmlformats.org/officeDocument/2006/relationships/slideLayout" Target="../slideLayouts/slideLayout3.xml"/><Relationship Id="rId3" Type="http://schemas.openxmlformats.org/officeDocument/2006/relationships/notesSlide" Target="../notesSlides/notesSlide11.xml"/></Relationships>
</file>

<file path=ppt/slides/slide1.xml><?xml version="1.0" encoding="utf-8"?>
<p:sld xmlns:a="http://schemas.openxmlformats.org/drawingml/2006/main" xmlns:r="http://schemas.openxmlformats.org/officeDocument/2006/relationships" xmlns:p="http://schemas.openxmlformats.org/presentationml/2006/main">
  <p:cSld name="Slide 1">
    <p:spTree>
      <p:nvGrpSpPr>
        <p:cNvPr id="1" name=""/>
        <p:cNvGrpSpPr/>
        <p:nvPr/>
      </p:nvGrpSpPr>
      <p:grpSpPr>
        <a:xfrm>
          <a:off x="0" y="0"/>
          <a:ext cx="0" cy="0"/>
          <a:chOff x="0" y="0"/>
          <a:chExt cx="0" cy="0"/>
        </a:xfrm>
      </p:grpSpPr>
      <p:sp>
        <p:nvSpPr>
          <p:cNvPr id="2" name="Shape 0"/>
          <p:cNvSpPr/>
          <p:nvPr/>
        </p:nvSpPr>
        <p:spPr>
          <a:xfrm>
            <a:off x="736582" y="914400"/>
            <a:ext cx="6603835" cy="4572000"/>
          </a:xfrm>
          <a:prstGeom prst="roundRect">
            <a:avLst>
              <a:gd name="adj" fmla="val 667"/>
            </a:avLst>
          </a:prstGeom>
          <a:solidFill>
            <a:srgbClr val="0E3A4A"/>
          </a:solidFill>
          <a:ln/>
        </p:spPr>
      </p:sp>
      <p:sp>
        <p:nvSpPr>
          <p:cNvPr id="3" name="Text 1"/>
          <p:cNvSpPr/>
          <p:nvPr/>
        </p:nvSpPr>
        <p:spPr>
          <a:xfrm>
            <a:off x="1193770" y="1320800"/>
            <a:ext cx="6299042" cy="182860"/>
          </a:xfrm>
          <a:prstGeom prst="rect">
            <a:avLst/>
          </a:prstGeom>
          <a:noFill/>
          <a:ln/>
        </p:spPr>
        <p:txBody>
          <a:bodyPr wrap="none" lIns="0" tIns="0" rIns="0" bIns="0" rtlCol="0" anchor="t"/>
          <a:lstStyle/>
          <a:p>
            <a:pPr algn="l" indent="0" marL="0">
              <a:lnSpc>
                <a:spcPct val="100000"/>
              </a:lnSpc>
              <a:buNone/>
            </a:pPr>
            <a:r>
              <a:rPr lang="en-US" sz="1200" spc="144" kern="0" dirty="0">
                <a:solidFill>
                  <a:srgbClr val="FFFFFF"/>
                </a:solidFill>
                <a:latin typeface="Hanken Grotesk SemiBold" pitchFamily="34" charset="0"/>
                <a:ea typeface="Hanken Grotesk SemiBold" pitchFamily="34" charset="-122"/>
                <a:cs typeface="Hanken Grotesk SemiBold" pitchFamily="34" charset="-120"/>
              </a:rPr>
              <a:t>VCALL · ỨNG DỤNG VIDEO CALL</a:t>
            </a:r>
            <a:endParaRPr lang="en-US" sz="1200" dirty="0"/>
          </a:p>
        </p:txBody>
      </p:sp>
      <p:sp>
        <p:nvSpPr>
          <p:cNvPr id="4" name="Text 2"/>
          <p:cNvSpPr/>
          <p:nvPr/>
        </p:nvSpPr>
        <p:spPr>
          <a:xfrm>
            <a:off x="1193770" y="1783060"/>
            <a:ext cx="5689458" cy="2218730"/>
          </a:xfrm>
          <a:prstGeom prst="rect">
            <a:avLst/>
          </a:prstGeom>
          <a:noFill/>
          <a:ln/>
        </p:spPr>
        <p:txBody>
          <a:bodyPr wrap="square" lIns="0" tIns="0" rIns="0" bIns="0" rtlCol="0" anchor="t">
            <a:normAutofit/>
          </a:bodyPr>
          <a:lstStyle/>
          <a:p>
            <a:pPr algn="l" indent="0" marL="0">
              <a:lnSpc>
                <a:spcPct val="87000"/>
              </a:lnSpc>
              <a:buNone/>
            </a:pPr>
            <a:r>
              <a:rPr lang="en-US" sz="5600" spc="-84" kern="0" dirty="0">
                <a:solidFill>
                  <a:srgbClr val="FFFFFF"/>
                </a:solidFill>
                <a:latin typeface="Fraunces SemiBold" pitchFamily="34" charset="0"/>
                <a:ea typeface="Fraunces SemiBold" pitchFamily="34" charset="-122"/>
                <a:cs typeface="Fraunces SemiBold" pitchFamily="34" charset="-120"/>
              </a:rPr>
              <a:t>ZEGOCLOUD</a:t>
            </a:r>
            <a:endParaRPr lang="en-US" sz="5600" dirty="0"/>
          </a:p>
          <a:p>
            <a:pPr algn="l" indent="0" marL="0">
              <a:lnSpc>
                <a:spcPct val="87000"/>
              </a:lnSpc>
              <a:buNone/>
            </a:pPr>
            <a:r>
              <a:rPr lang="en-US" sz="5600" spc="-84" kern="0" dirty="0">
                <a:solidFill>
                  <a:srgbClr val="FFFFFF"/>
                </a:solidFill>
                <a:latin typeface="Fraunces SemiBold" pitchFamily="34" charset="0"/>
                <a:ea typeface="Fraunces SemiBold" pitchFamily="34" charset="-122"/>
                <a:cs typeface="Fraunces SemiBold" pitchFamily="34" charset="-120"/>
              </a:rPr>
              <a:t>trong ứng dụng</a:t>
            </a:r>
            <a:endParaRPr lang="en-US" sz="5600" dirty="0"/>
          </a:p>
          <a:p>
            <a:pPr algn="l" indent="0" marL="0">
              <a:lnSpc>
                <a:spcPct val="87000"/>
              </a:lnSpc>
              <a:buNone/>
            </a:pPr>
            <a:r>
              <a:rPr lang="en-US" sz="5600" spc="-84" kern="0" dirty="0">
                <a:solidFill>
                  <a:srgbClr val="FFFFFF"/>
                </a:solidFill>
                <a:latin typeface="Fraunces SemiBold" pitchFamily="34" charset="0"/>
                <a:ea typeface="Fraunces SemiBold" pitchFamily="34" charset="-122"/>
                <a:cs typeface="Fraunces SemiBold" pitchFamily="34" charset="-120"/>
              </a:rPr>
              <a:t>Video Call</a:t>
            </a:r>
            <a:endParaRPr lang="en-US" sz="5600" dirty="0"/>
          </a:p>
        </p:txBody>
      </p:sp>
      <p:sp>
        <p:nvSpPr>
          <p:cNvPr id="5" name="Text 3"/>
          <p:cNvSpPr/>
          <p:nvPr/>
        </p:nvSpPr>
        <p:spPr>
          <a:xfrm>
            <a:off x="1193770" y="4208165"/>
            <a:ext cx="6299042" cy="214610"/>
          </a:xfrm>
          <a:prstGeom prst="rect">
            <a:avLst/>
          </a:prstGeom>
          <a:noFill/>
          <a:ln/>
        </p:spPr>
        <p:txBody>
          <a:bodyPr wrap="none" lIns="0" tIns="0" rIns="0" bIns="0" rtlCol="0" anchor="t"/>
          <a:lstStyle/>
          <a:p>
            <a:pPr algn="l" indent="0" marL="0">
              <a:lnSpc>
                <a:spcPct val="108000"/>
              </a:lnSpc>
              <a:buNone/>
            </a:pPr>
            <a:r>
              <a:rPr lang="en-US" sz="1300" dirty="0">
                <a:solidFill>
                  <a:srgbClr val="FFFFFF"/>
                </a:solidFill>
                <a:latin typeface="Hanken Grotesk" pitchFamily="34" charset="0"/>
                <a:ea typeface="Hanken Grotesk" pitchFamily="34" charset="-122"/>
                <a:cs typeface="Hanken Grotesk" pitchFamily="34" charset="-120"/>
              </a:rPr>
              <a:t>Flutter điều phối · ZEGOCLOUD truyền media</a:t>
            </a:r>
            <a:endParaRPr lang="en-US" sz="13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spTree>
      <p:nvGrpSpPr>
        <p:cNvPr id="1" name=""/>
        <p:cNvGrpSpPr/>
        <p:nvPr/>
      </p:nvGrpSpPr>
      <p:grpSpPr>
        <a:xfrm>
          <a:off x="0" y="0"/>
          <a:ext cx="0" cy="0"/>
          <a:chOff x="0" y="0"/>
          <a:chExt cx="0" cy="0"/>
        </a:xfrm>
      </p:grpSpPr>
      <p:sp>
        <p:nvSpPr>
          <p:cNvPr id="2" name="Shape 0"/>
          <p:cNvSpPr/>
          <p:nvPr/>
        </p:nvSpPr>
        <p:spPr>
          <a:xfrm>
            <a:off x="609585" y="927100"/>
            <a:ext cx="5486263" cy="6350"/>
          </a:xfrm>
          <a:prstGeom prst="rect">
            <a:avLst/>
          </a:prstGeom>
          <a:solidFill>
            <a:srgbClr val="B8D0CB"/>
          </a:solidFill>
          <a:ln/>
        </p:spPr>
      </p:sp>
      <p:sp>
        <p:nvSpPr>
          <p:cNvPr id="3" name="Shape 1"/>
          <p:cNvSpPr/>
          <p:nvPr/>
        </p:nvSpPr>
        <p:spPr>
          <a:xfrm>
            <a:off x="6095848" y="927100"/>
            <a:ext cx="5486263" cy="6350"/>
          </a:xfrm>
          <a:prstGeom prst="rect">
            <a:avLst/>
          </a:prstGeom>
          <a:solidFill>
            <a:srgbClr val="B8D0CB"/>
          </a:solidFill>
          <a:ln/>
        </p:spPr>
      </p:sp>
      <p:sp>
        <p:nvSpPr>
          <p:cNvPr id="4" name="Shape 2"/>
          <p:cNvSpPr/>
          <p:nvPr/>
        </p:nvSpPr>
        <p:spPr>
          <a:xfrm>
            <a:off x="10477238" y="609600"/>
            <a:ext cx="228594" cy="228600"/>
          </a:xfrm>
          <a:prstGeom prst="ellipse">
            <a:avLst/>
          </a:prstGeom>
          <a:noFill/>
          <a:ln w="6350">
            <a:solidFill>
              <a:srgbClr val="0E3A4A"/>
            </a:solidFill>
            <a:prstDash val="solid"/>
          </a:ln>
        </p:spPr>
      </p:sp>
      <p:sp>
        <p:nvSpPr>
          <p:cNvPr id="5" name="Shape 3"/>
          <p:cNvSpPr/>
          <p:nvPr/>
        </p:nvSpPr>
        <p:spPr>
          <a:xfrm>
            <a:off x="10769331" y="609600"/>
            <a:ext cx="228594" cy="228600"/>
          </a:xfrm>
          <a:prstGeom prst="ellipse">
            <a:avLst/>
          </a:prstGeom>
          <a:solidFill>
            <a:srgbClr val="0E3A4A"/>
          </a:solidFill>
          <a:ln/>
        </p:spPr>
      </p:sp>
      <p:sp>
        <p:nvSpPr>
          <p:cNvPr id="6" name="Shape 4"/>
          <p:cNvSpPr/>
          <p:nvPr/>
        </p:nvSpPr>
        <p:spPr>
          <a:xfrm>
            <a:off x="11061423" y="609600"/>
            <a:ext cx="228594" cy="228600"/>
          </a:xfrm>
          <a:prstGeom prst="ellipse">
            <a:avLst/>
          </a:prstGeom>
          <a:noFill/>
          <a:ln w="6350">
            <a:solidFill>
              <a:srgbClr val="0E3A4A"/>
            </a:solidFill>
            <a:prstDash val="solid"/>
          </a:ln>
        </p:spPr>
      </p:sp>
      <p:sp>
        <p:nvSpPr>
          <p:cNvPr id="7" name="Shape 5"/>
          <p:cNvSpPr/>
          <p:nvPr/>
        </p:nvSpPr>
        <p:spPr>
          <a:xfrm>
            <a:off x="11353516" y="609600"/>
            <a:ext cx="228594" cy="228600"/>
          </a:xfrm>
          <a:prstGeom prst="ellipse">
            <a:avLst/>
          </a:prstGeom>
          <a:noFill/>
          <a:ln w="6350">
            <a:solidFill>
              <a:srgbClr val="0E3A4A"/>
            </a:solidFill>
            <a:prstDash val="solid"/>
          </a:ln>
        </p:spPr>
      </p:sp>
      <p:sp>
        <p:nvSpPr>
          <p:cNvPr id="8" name="Shape 6"/>
          <p:cNvSpPr/>
          <p:nvPr/>
        </p:nvSpPr>
        <p:spPr>
          <a:xfrm>
            <a:off x="609585" y="2627114"/>
            <a:ext cx="3352716" cy="1885950"/>
          </a:xfrm>
          <a:prstGeom prst="roundRect">
            <a:avLst>
              <a:gd name="adj" fmla="val 606"/>
            </a:avLst>
          </a:prstGeom>
          <a:solidFill>
            <a:srgbClr val="E2E8F0"/>
          </a:solidFill>
          <a:ln/>
        </p:spPr>
      </p:sp>
      <p:sp>
        <p:nvSpPr>
          <p:cNvPr id="9" name="Shape 7"/>
          <p:cNvSpPr/>
          <p:nvPr/>
        </p:nvSpPr>
        <p:spPr>
          <a:xfrm>
            <a:off x="4419489" y="2627114"/>
            <a:ext cx="3352716" cy="1885950"/>
          </a:xfrm>
          <a:prstGeom prst="roundRect">
            <a:avLst>
              <a:gd name="adj" fmla="val 606"/>
            </a:avLst>
          </a:prstGeom>
          <a:solidFill>
            <a:srgbClr val="E2E8F0"/>
          </a:solidFill>
          <a:ln/>
        </p:spPr>
      </p:sp>
      <p:sp>
        <p:nvSpPr>
          <p:cNvPr id="10" name="Shape 8"/>
          <p:cNvSpPr/>
          <p:nvPr/>
        </p:nvSpPr>
        <p:spPr>
          <a:xfrm>
            <a:off x="8229394" y="2627114"/>
            <a:ext cx="3352716" cy="1885950"/>
          </a:xfrm>
          <a:prstGeom prst="roundRect">
            <a:avLst>
              <a:gd name="adj" fmla="val 606"/>
            </a:avLst>
          </a:prstGeom>
          <a:solidFill>
            <a:srgbClr val="E2E8F0"/>
          </a:solidFill>
          <a:ln/>
        </p:spPr>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spTree>
      <p:nvGrpSpPr>
        <p:cNvPr id="1" name=""/>
        <p:cNvGrpSpPr/>
        <p:nvPr/>
      </p:nvGrpSpPr>
      <p:grpSpPr>
        <a:xfrm>
          <a:off x="0" y="0"/>
          <a:ext cx="0" cy="0"/>
          <a:chOff x="0" y="0"/>
          <a:chExt cx="0" cy="0"/>
        </a:xfrm>
      </p:grpSpPr>
      <p:sp>
        <p:nvSpPr>
          <p:cNvPr id="2" name="Text 0"/>
          <p:cNvSpPr/>
          <p:nvPr/>
        </p:nvSpPr>
        <p:spPr>
          <a:xfrm>
            <a:off x="609585" y="609600"/>
            <a:ext cx="11582110" cy="182860"/>
          </a:xfrm>
          <a:prstGeom prst="rect">
            <a:avLst/>
          </a:prstGeom>
          <a:noFill/>
          <a:ln/>
        </p:spPr>
        <p:txBody>
          <a:bodyPr wrap="none" lIns="0" tIns="0" rIns="0" bIns="0" rtlCol="0" anchor="t"/>
          <a:lstStyle/>
          <a:p>
            <a:pPr algn="l" indent="0" marL="0">
              <a:lnSpc>
                <a:spcPct val="100000"/>
              </a:lnSpc>
              <a:buNone/>
            </a:pPr>
            <a:r>
              <a:rPr lang="en-US" sz="1200" spc="144" kern="0" dirty="0">
                <a:solidFill>
                  <a:srgbClr val="0E3A4A"/>
                </a:solidFill>
                <a:latin typeface="Hanken Grotesk SemiBold" pitchFamily="34" charset="0"/>
                <a:ea typeface="Hanken Grotesk SemiBold" pitchFamily="34" charset="-122"/>
                <a:cs typeface="Hanken Grotesk SemiBold" pitchFamily="34" charset="-120"/>
              </a:rPr>
              <a:t>01 · BÀI TOÁN</a:t>
            </a:r>
            <a:endParaRPr lang="en-US" sz="1200" dirty="0"/>
          </a:p>
        </p:txBody>
      </p:sp>
      <p:sp>
        <p:nvSpPr>
          <p:cNvPr id="3" name="Text 1"/>
          <p:cNvSpPr/>
          <p:nvPr/>
        </p:nvSpPr>
        <p:spPr>
          <a:xfrm>
            <a:off x="609585" y="884535"/>
            <a:ext cx="10972526" cy="1152128"/>
          </a:xfrm>
          <a:prstGeom prst="rect">
            <a:avLst/>
          </a:prstGeom>
          <a:noFill/>
          <a:ln/>
        </p:spPr>
        <p:txBody>
          <a:bodyPr wrap="square" lIns="0" tIns="0" rIns="0" bIns="0" rtlCol="0" anchor="t">
            <a:normAutofit/>
          </a:bodyPr>
          <a:lstStyle/>
          <a:p>
            <a:pPr algn="l" indent="0" marL="0">
              <a:lnSpc>
                <a:spcPct val="90000"/>
              </a:lnSpc>
              <a:buNone/>
            </a:pPr>
            <a:r>
              <a:rPr lang="en-US" sz="4200" spc="-50" kern="0" dirty="0">
                <a:solidFill>
                  <a:srgbClr val="0E3A4A"/>
                </a:solidFill>
                <a:latin typeface="Fraunces SemiBold" pitchFamily="34" charset="0"/>
                <a:ea typeface="Fraunces SemiBold" pitchFamily="34" charset="-122"/>
                <a:cs typeface="Fraunces SemiBold" pitchFamily="34" charset="-120"/>
              </a:rPr>
              <a:t>Bài toán: xây dựng Video Call mà không phải tự làm hạ tầng truyền media</a:t>
            </a:r>
            <a:endParaRPr lang="en-US" sz="4200" dirty="0"/>
          </a:p>
        </p:txBody>
      </p:sp>
      <p:sp>
        <p:nvSpPr>
          <p:cNvPr id="4" name="Shape 2"/>
          <p:cNvSpPr/>
          <p:nvPr/>
        </p:nvSpPr>
        <p:spPr>
          <a:xfrm>
            <a:off x="609585" y="2320826"/>
            <a:ext cx="3620798" cy="50701"/>
          </a:xfrm>
          <a:prstGeom prst="roundRect">
            <a:avLst>
              <a:gd name="adj" fmla="val 49999"/>
            </a:avLst>
          </a:prstGeom>
          <a:solidFill>
            <a:srgbClr val="0E3A4A"/>
          </a:solidFill>
          <a:ln/>
        </p:spPr>
      </p:sp>
      <p:sp>
        <p:nvSpPr>
          <p:cNvPr id="5" name="Text 3"/>
          <p:cNvSpPr/>
          <p:nvPr/>
        </p:nvSpPr>
        <p:spPr>
          <a:xfrm>
            <a:off x="609585" y="2633563"/>
            <a:ext cx="11582110" cy="333375"/>
          </a:xfrm>
          <a:prstGeom prst="rect">
            <a:avLst/>
          </a:prstGeom>
          <a:noFill/>
          <a:ln/>
        </p:spPr>
        <p:txBody>
          <a:bodyPr wrap="none" lIns="0" tIns="0" rIns="0" bIns="0" rtlCol="0" anchor="t"/>
          <a:lstStyle/>
          <a:p>
            <a:pPr algn="l" indent="0" marL="0">
              <a:lnSpc>
                <a:spcPct val="104000"/>
              </a:lnSpc>
              <a:buNone/>
            </a:pPr>
            <a:r>
              <a:rPr lang="en-US" sz="2100" i="1" dirty="0">
                <a:solidFill>
                  <a:srgbClr val="0E3A4A"/>
                </a:solidFill>
                <a:latin typeface="Fraunces" pitchFamily="34" charset="0"/>
                <a:ea typeface="Fraunces" pitchFamily="34" charset="-122"/>
                <a:cs typeface="Fraunces" pitchFamily="34" charset="-120"/>
              </a:rPr>
              <a:t>Video Call thời gian thực đòi hỏi xử lý âm thanh, hình ảnh, thiết bị và kết nối giữa người dùng.</a:t>
            </a:r>
            <a:endParaRPr lang="en-US" sz="2100" dirty="0"/>
          </a:p>
        </p:txBody>
      </p:sp>
      <p:sp>
        <p:nvSpPr>
          <p:cNvPr id="6" name="Shape 4"/>
          <p:cNvSpPr/>
          <p:nvPr/>
        </p:nvSpPr>
        <p:spPr>
          <a:xfrm>
            <a:off x="609585" y="3594993"/>
            <a:ext cx="3352716" cy="2127052"/>
          </a:xfrm>
          <a:prstGeom prst="roundRect">
            <a:avLst>
              <a:gd name="adj" fmla="val 537"/>
            </a:avLst>
          </a:prstGeom>
          <a:solidFill>
            <a:srgbClr val="DBEBE1"/>
          </a:solidFill>
          <a:ln/>
        </p:spPr>
      </p:sp>
      <p:pic>
        <p:nvPicPr>
          <p:cNvPr id="7" name="Image 0" descr="preencoded.png">    </p:cNvPr>
          <p:cNvPicPr>
            <a:picLocks noChangeAspect="1"/>
          </p:cNvPicPr>
          <p:nvPr/>
        </p:nvPicPr>
        <p:blipFill>
          <a:blip r:embed="rId1"/>
          <a:stretch>
            <a:fillRect/>
          </a:stretch>
        </p:blipFill>
        <p:spPr>
          <a:xfrm>
            <a:off x="838179" y="3823593"/>
            <a:ext cx="457189" cy="457200"/>
          </a:xfrm>
          <a:prstGeom prst="rect">
            <a:avLst/>
          </a:prstGeom>
        </p:spPr>
      </p:pic>
      <p:sp>
        <p:nvSpPr>
          <p:cNvPr id="8" name="Text 5"/>
          <p:cNvSpPr/>
          <p:nvPr/>
        </p:nvSpPr>
        <p:spPr>
          <a:xfrm>
            <a:off x="838179" y="4414143"/>
            <a:ext cx="2895528" cy="274241"/>
          </a:xfrm>
          <a:prstGeom prst="rect">
            <a:avLst/>
          </a:prstGeom>
          <a:noFill/>
          <a:ln/>
        </p:spPr>
        <p:txBody>
          <a:bodyPr wrap="none" lIns="0" tIns="0" rIns="0" bIns="0" rtlCol="0" anchor="t"/>
          <a:lstStyle/>
          <a:p>
            <a:pPr algn="l" indent="0" marL="0">
              <a:lnSpc>
                <a:spcPct val="100000"/>
              </a:lnSpc>
              <a:buNone/>
            </a:pPr>
            <a:r>
              <a:rPr lang="en-US" sz="1800" dirty="0">
                <a:solidFill>
                  <a:srgbClr val="0E3A4A"/>
                </a:solidFill>
                <a:latin typeface="Hanken Grotesk SemiBold" pitchFamily="34" charset="0"/>
                <a:ea typeface="Hanken Grotesk SemiBold" pitchFamily="34" charset="-122"/>
                <a:cs typeface="Hanken Grotesk SemiBold" pitchFamily="34" charset="-120"/>
              </a:rPr>
              <a:t>Âm thanh</a:t>
            </a:r>
            <a:endParaRPr lang="en-US" sz="1800" dirty="0"/>
          </a:p>
        </p:txBody>
      </p:sp>
      <p:sp>
        <p:nvSpPr>
          <p:cNvPr id="9" name="Text 6"/>
          <p:cNvSpPr/>
          <p:nvPr/>
        </p:nvSpPr>
        <p:spPr>
          <a:xfrm>
            <a:off x="838179" y="4853484"/>
            <a:ext cx="2895528" cy="639961"/>
          </a:xfrm>
          <a:prstGeom prst="rect">
            <a:avLst/>
          </a:prstGeom>
          <a:noFill/>
          <a:ln/>
        </p:spPr>
        <p:txBody>
          <a:bodyPr wrap="square" lIns="0" tIns="0" rIns="0" bIns="0" rtlCol="0" anchor="t">
            <a:normAutofit/>
          </a:bodyPr>
          <a:lstStyle/>
          <a:p>
            <a:pPr algn="l" indent="0" marL="0">
              <a:lnSpc>
                <a:spcPct val="117000"/>
              </a:lnSpc>
              <a:buNone/>
            </a:pPr>
            <a:r>
              <a:rPr lang="en-US" sz="1800" dirty="0">
                <a:solidFill>
                  <a:srgbClr val="0E3A4A"/>
                </a:solidFill>
                <a:latin typeface="Hanken Grotesk" pitchFamily="34" charset="0"/>
                <a:ea typeface="Hanken Grotesk" pitchFamily="34" charset="-122"/>
                <a:cs typeface="Hanken Grotesk" pitchFamily="34" charset="-120"/>
              </a:rPr>
              <a:t>Thu và truyền tiếng nói theo thời gian thực.</a:t>
            </a:r>
            <a:endParaRPr lang="en-US" sz="1800" dirty="0"/>
          </a:p>
        </p:txBody>
      </p:sp>
      <p:sp>
        <p:nvSpPr>
          <p:cNvPr id="10" name="Shape 7"/>
          <p:cNvSpPr/>
          <p:nvPr/>
        </p:nvSpPr>
        <p:spPr>
          <a:xfrm>
            <a:off x="4419489" y="3594993"/>
            <a:ext cx="3352716" cy="2127052"/>
          </a:xfrm>
          <a:prstGeom prst="roundRect">
            <a:avLst>
              <a:gd name="adj" fmla="val 537"/>
            </a:avLst>
          </a:prstGeom>
          <a:solidFill>
            <a:srgbClr val="DBEBE1"/>
          </a:solidFill>
          <a:ln/>
        </p:spPr>
      </p:sp>
      <p:pic>
        <p:nvPicPr>
          <p:cNvPr id="11" name="Image 1" descr="preencoded.png">    </p:cNvPr>
          <p:cNvPicPr>
            <a:picLocks noChangeAspect="1"/>
          </p:cNvPicPr>
          <p:nvPr/>
        </p:nvPicPr>
        <p:blipFill>
          <a:blip r:embed="rId2"/>
          <a:stretch>
            <a:fillRect/>
          </a:stretch>
        </p:blipFill>
        <p:spPr>
          <a:xfrm>
            <a:off x="4648084" y="3823593"/>
            <a:ext cx="457189" cy="457200"/>
          </a:xfrm>
          <a:prstGeom prst="rect">
            <a:avLst/>
          </a:prstGeom>
        </p:spPr>
      </p:pic>
      <p:sp>
        <p:nvSpPr>
          <p:cNvPr id="12" name="Text 8"/>
          <p:cNvSpPr/>
          <p:nvPr/>
        </p:nvSpPr>
        <p:spPr>
          <a:xfrm>
            <a:off x="4648084" y="4414143"/>
            <a:ext cx="2895528" cy="274241"/>
          </a:xfrm>
          <a:prstGeom prst="rect">
            <a:avLst/>
          </a:prstGeom>
          <a:noFill/>
          <a:ln/>
        </p:spPr>
        <p:txBody>
          <a:bodyPr wrap="none" lIns="0" tIns="0" rIns="0" bIns="0" rtlCol="0" anchor="t"/>
          <a:lstStyle/>
          <a:p>
            <a:pPr algn="l" indent="0" marL="0">
              <a:lnSpc>
                <a:spcPct val="100000"/>
              </a:lnSpc>
              <a:buNone/>
            </a:pPr>
            <a:r>
              <a:rPr lang="en-US" sz="1800" dirty="0">
                <a:solidFill>
                  <a:srgbClr val="0E3A4A"/>
                </a:solidFill>
                <a:latin typeface="Hanken Grotesk SemiBold" pitchFamily="34" charset="0"/>
                <a:ea typeface="Hanken Grotesk SemiBold" pitchFamily="34" charset="-122"/>
                <a:cs typeface="Hanken Grotesk SemiBold" pitchFamily="34" charset="-120"/>
              </a:rPr>
              <a:t>Hình ảnh</a:t>
            </a:r>
            <a:endParaRPr lang="en-US" sz="1800" dirty="0"/>
          </a:p>
        </p:txBody>
      </p:sp>
      <p:sp>
        <p:nvSpPr>
          <p:cNvPr id="13" name="Text 9"/>
          <p:cNvSpPr/>
          <p:nvPr/>
        </p:nvSpPr>
        <p:spPr>
          <a:xfrm>
            <a:off x="4648084" y="4853484"/>
            <a:ext cx="2895528" cy="639961"/>
          </a:xfrm>
          <a:prstGeom prst="rect">
            <a:avLst/>
          </a:prstGeom>
          <a:noFill/>
          <a:ln/>
        </p:spPr>
        <p:txBody>
          <a:bodyPr wrap="square" lIns="0" tIns="0" rIns="0" bIns="0" rtlCol="0" anchor="t">
            <a:normAutofit/>
          </a:bodyPr>
          <a:lstStyle/>
          <a:p>
            <a:pPr algn="l" indent="0" marL="0">
              <a:lnSpc>
                <a:spcPct val="117000"/>
              </a:lnSpc>
              <a:buNone/>
            </a:pPr>
            <a:r>
              <a:rPr lang="en-US" sz="1800" dirty="0">
                <a:solidFill>
                  <a:srgbClr val="0E3A4A"/>
                </a:solidFill>
                <a:latin typeface="Hanken Grotesk" pitchFamily="34" charset="0"/>
                <a:ea typeface="Hanken Grotesk" pitchFamily="34" charset="-122"/>
                <a:cs typeface="Hanken Grotesk" pitchFamily="34" charset="-120"/>
              </a:rPr>
              <a:t>Xử lý camera và luồng video.</a:t>
            </a:r>
            <a:endParaRPr lang="en-US" sz="1800" dirty="0"/>
          </a:p>
        </p:txBody>
      </p:sp>
      <p:sp>
        <p:nvSpPr>
          <p:cNvPr id="14" name="Shape 10"/>
          <p:cNvSpPr/>
          <p:nvPr/>
        </p:nvSpPr>
        <p:spPr>
          <a:xfrm>
            <a:off x="8229394" y="3594993"/>
            <a:ext cx="3352716" cy="2127052"/>
          </a:xfrm>
          <a:prstGeom prst="roundRect">
            <a:avLst>
              <a:gd name="adj" fmla="val 537"/>
            </a:avLst>
          </a:prstGeom>
          <a:solidFill>
            <a:srgbClr val="DBEBE1"/>
          </a:solidFill>
          <a:ln/>
        </p:spPr>
      </p:sp>
      <p:pic>
        <p:nvPicPr>
          <p:cNvPr id="15" name="Image 2" descr="preencoded.png">    </p:cNvPr>
          <p:cNvPicPr>
            <a:picLocks noChangeAspect="1"/>
          </p:cNvPicPr>
          <p:nvPr/>
        </p:nvPicPr>
        <p:blipFill>
          <a:blip r:embed="rId3"/>
          <a:stretch>
            <a:fillRect/>
          </a:stretch>
        </p:blipFill>
        <p:spPr>
          <a:xfrm>
            <a:off x="8457988" y="3823593"/>
            <a:ext cx="457189" cy="457200"/>
          </a:xfrm>
          <a:prstGeom prst="rect">
            <a:avLst/>
          </a:prstGeom>
        </p:spPr>
      </p:pic>
      <p:sp>
        <p:nvSpPr>
          <p:cNvPr id="16" name="Text 11"/>
          <p:cNvSpPr/>
          <p:nvPr/>
        </p:nvSpPr>
        <p:spPr>
          <a:xfrm>
            <a:off x="8457988" y="4414143"/>
            <a:ext cx="2895528" cy="274241"/>
          </a:xfrm>
          <a:prstGeom prst="rect">
            <a:avLst/>
          </a:prstGeom>
          <a:noFill/>
          <a:ln/>
        </p:spPr>
        <p:txBody>
          <a:bodyPr wrap="none" lIns="0" tIns="0" rIns="0" bIns="0" rtlCol="0" anchor="t"/>
          <a:lstStyle/>
          <a:p>
            <a:pPr algn="l" indent="0" marL="0">
              <a:lnSpc>
                <a:spcPct val="100000"/>
              </a:lnSpc>
              <a:buNone/>
            </a:pPr>
            <a:r>
              <a:rPr lang="en-US" sz="1800" dirty="0">
                <a:solidFill>
                  <a:srgbClr val="0E3A4A"/>
                </a:solidFill>
                <a:latin typeface="Hanken Grotesk SemiBold" pitchFamily="34" charset="0"/>
                <a:ea typeface="Hanken Grotesk SemiBold" pitchFamily="34" charset="-122"/>
                <a:cs typeface="Hanken Grotesk SemiBold" pitchFamily="34" charset="-120"/>
              </a:rPr>
              <a:t>Kết nối</a:t>
            </a:r>
            <a:endParaRPr lang="en-US" sz="1800" dirty="0"/>
          </a:p>
        </p:txBody>
      </p:sp>
      <p:sp>
        <p:nvSpPr>
          <p:cNvPr id="17" name="Text 12"/>
          <p:cNvSpPr/>
          <p:nvPr/>
        </p:nvSpPr>
        <p:spPr>
          <a:xfrm>
            <a:off x="8457988" y="4853484"/>
            <a:ext cx="2895528" cy="639961"/>
          </a:xfrm>
          <a:prstGeom prst="rect">
            <a:avLst/>
          </a:prstGeom>
          <a:noFill/>
          <a:ln/>
        </p:spPr>
        <p:txBody>
          <a:bodyPr wrap="square" lIns="0" tIns="0" rIns="0" bIns="0" rtlCol="0" anchor="t">
            <a:normAutofit/>
          </a:bodyPr>
          <a:lstStyle/>
          <a:p>
            <a:pPr algn="l" indent="0" marL="0">
              <a:lnSpc>
                <a:spcPct val="117000"/>
              </a:lnSpc>
              <a:buNone/>
            </a:pPr>
            <a:r>
              <a:rPr lang="en-US" sz="1800" dirty="0">
                <a:solidFill>
                  <a:srgbClr val="0E3A4A"/>
                </a:solidFill>
                <a:latin typeface="Hanken Grotesk" pitchFamily="34" charset="0"/>
                <a:ea typeface="Hanken Grotesk" pitchFamily="34" charset="-122"/>
                <a:cs typeface="Hanken Grotesk" pitchFamily="34" charset="-120"/>
              </a:rPr>
              <a:t>Đưa đúng luồng đến đúng người dùng.</a:t>
            </a:r>
            <a:endParaRPr lang="en-US" sz="1800" dirty="0"/>
          </a:p>
        </p:txBody>
      </p:sp>
      <p:sp>
        <p:nvSpPr>
          <p:cNvPr id="18" name="Text 13"/>
          <p:cNvSpPr/>
          <p:nvPr/>
        </p:nvSpPr>
        <p:spPr>
          <a:xfrm>
            <a:off x="609585" y="5928420"/>
            <a:ext cx="11582110" cy="319980"/>
          </a:xfrm>
          <a:prstGeom prst="rect">
            <a:avLst/>
          </a:prstGeom>
          <a:noFill/>
          <a:ln/>
        </p:spPr>
        <p:txBody>
          <a:bodyPr wrap="none" lIns="0" tIns="0" rIns="0" bIns="0" rtlCol="0" anchor="t"/>
          <a:lstStyle/>
          <a:p>
            <a:pPr algn="l" indent="0" marL="0">
              <a:lnSpc>
                <a:spcPct val="117000"/>
              </a:lnSpc>
              <a:buNone/>
            </a:pPr>
            <a:r>
              <a:rPr lang="en-US" sz="1800" b="1" dirty="0">
                <a:solidFill>
                  <a:srgbClr val="0E3A4A"/>
                </a:solidFill>
                <a:latin typeface="Hanken Grotesk Bold" pitchFamily="34" charset="0"/>
                <a:ea typeface="Hanken Grotesk Bold" pitchFamily="34" charset="-122"/>
                <a:cs typeface="Hanken Grotesk Bold" pitchFamily="34" charset="-120"/>
              </a:rPr>
              <a:t>Nhóm chọn tích hợp SDK</a:t>
            </a:r>
            <a:pPr algn="l" indent="0" marL="0">
              <a:lnSpc>
                <a:spcPct val="117000"/>
              </a:lnSpc>
              <a:buNone/>
            </a:pPr>
            <a:r>
              <a:rPr lang="en-US" sz="1800" dirty="0">
                <a:solidFill>
                  <a:srgbClr val="0E3A4A"/>
                </a:solidFill>
                <a:latin typeface="Hanken Grotesk" pitchFamily="34" charset="0"/>
                <a:ea typeface="Hanken Grotesk" pitchFamily="34" charset="-122"/>
                <a:cs typeface="Hanken Grotesk" pitchFamily="34" charset="-120"/>
              </a:rPr>
              <a:t> để rút ngắn thời gian phát triển và tập trung vào ứng dụng VCall.</a:t>
            </a:r>
            <a:endParaRPr lang="en-US" sz="180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spTree>
      <p:nvGrpSpPr>
        <p:cNvPr id="1" name=""/>
        <p:cNvGrpSpPr/>
        <p:nvPr/>
      </p:nvGrpSpPr>
      <p:grpSpPr>
        <a:xfrm>
          <a:off x="0" y="0"/>
          <a:ext cx="0" cy="0"/>
          <a:chOff x="0" y="0"/>
          <a:chExt cx="0" cy="0"/>
        </a:xfrm>
      </p:grpSpPr>
      <p:sp>
        <p:nvSpPr>
          <p:cNvPr id="2" name="Text 0"/>
          <p:cNvSpPr/>
          <p:nvPr/>
        </p:nvSpPr>
        <p:spPr>
          <a:xfrm>
            <a:off x="609585" y="609600"/>
            <a:ext cx="11582110" cy="182860"/>
          </a:xfrm>
          <a:prstGeom prst="rect">
            <a:avLst/>
          </a:prstGeom>
          <a:noFill/>
          <a:ln/>
        </p:spPr>
        <p:txBody>
          <a:bodyPr wrap="none" lIns="0" tIns="0" rIns="0" bIns="0" rtlCol="0" anchor="t"/>
          <a:lstStyle/>
          <a:p>
            <a:pPr algn="l" indent="0" marL="0">
              <a:lnSpc>
                <a:spcPct val="100000"/>
              </a:lnSpc>
              <a:buNone/>
            </a:pPr>
            <a:r>
              <a:rPr lang="en-US" sz="1200" spc="144" kern="0" dirty="0">
                <a:solidFill>
                  <a:srgbClr val="0E3A4A"/>
                </a:solidFill>
                <a:latin typeface="Hanken Grotesk SemiBold" pitchFamily="34" charset="0"/>
                <a:ea typeface="Hanken Grotesk SemiBold" pitchFamily="34" charset="-122"/>
                <a:cs typeface="Hanken Grotesk SemiBold" pitchFamily="34" charset="-120"/>
              </a:rPr>
              <a:t>02 · VAI TRÒ CỦA ZEGOCLOUD</a:t>
            </a:r>
            <a:endParaRPr lang="en-US" sz="1200" dirty="0"/>
          </a:p>
        </p:txBody>
      </p:sp>
      <p:sp>
        <p:nvSpPr>
          <p:cNvPr id="3" name="Text 1"/>
          <p:cNvSpPr/>
          <p:nvPr/>
        </p:nvSpPr>
        <p:spPr>
          <a:xfrm>
            <a:off x="609585" y="884535"/>
            <a:ext cx="10972526" cy="1316633"/>
          </a:xfrm>
          <a:prstGeom prst="rect">
            <a:avLst/>
          </a:prstGeom>
          <a:noFill/>
          <a:ln/>
        </p:spPr>
        <p:txBody>
          <a:bodyPr wrap="square" lIns="0" tIns="0" rIns="0" bIns="0" rtlCol="0" anchor="t">
            <a:normAutofit/>
          </a:bodyPr>
          <a:lstStyle/>
          <a:p>
            <a:pPr algn="l" indent="0" marL="0">
              <a:lnSpc>
                <a:spcPct val="90000"/>
              </a:lnSpc>
              <a:buNone/>
            </a:pPr>
            <a:r>
              <a:rPr lang="en-US" sz="4800" spc="-58" kern="0" dirty="0">
                <a:solidFill>
                  <a:srgbClr val="0E3A4A"/>
                </a:solidFill>
                <a:latin typeface="Fraunces SemiBold" pitchFamily="34" charset="0"/>
                <a:ea typeface="Fraunces SemiBold" pitchFamily="34" charset="-122"/>
                <a:cs typeface="Fraunces SemiBold" pitchFamily="34" charset="-120"/>
              </a:rPr>
              <a:t>ZEGOCLOUD cung cấp lớp giao tiếp thời gian thực cho ứng dụng</a:t>
            </a:r>
            <a:endParaRPr lang="en-US" sz="4800" dirty="0"/>
          </a:p>
        </p:txBody>
      </p:sp>
      <p:sp>
        <p:nvSpPr>
          <p:cNvPr id="4" name="Shape 2"/>
          <p:cNvSpPr/>
          <p:nvPr/>
        </p:nvSpPr>
        <p:spPr>
          <a:xfrm>
            <a:off x="609585" y="2404368"/>
            <a:ext cx="2839074" cy="3844032"/>
          </a:xfrm>
          <a:prstGeom prst="rect">
            <a:avLst/>
          </a:prstGeom>
          <a:solidFill>
            <a:srgbClr val="0E3A4A"/>
          </a:solidFill>
          <a:ln/>
        </p:spPr>
      </p:sp>
      <p:sp>
        <p:nvSpPr>
          <p:cNvPr id="5" name="Text 3"/>
          <p:cNvSpPr/>
          <p:nvPr/>
        </p:nvSpPr>
        <p:spPr>
          <a:xfrm>
            <a:off x="838179" y="2727722"/>
            <a:ext cx="2610479" cy="182860"/>
          </a:xfrm>
          <a:prstGeom prst="rect">
            <a:avLst/>
          </a:prstGeom>
          <a:noFill/>
          <a:ln/>
        </p:spPr>
        <p:txBody>
          <a:bodyPr wrap="none" lIns="0" tIns="0" rIns="0" bIns="0" rtlCol="0" anchor="t"/>
          <a:lstStyle/>
          <a:p>
            <a:pPr algn="l" indent="0" marL="0">
              <a:lnSpc>
                <a:spcPct val="100000"/>
              </a:lnSpc>
              <a:buNone/>
            </a:pPr>
            <a:r>
              <a:rPr lang="en-US" sz="1200" spc="144" kern="0" dirty="0">
                <a:solidFill>
                  <a:srgbClr val="FFFFFF"/>
                </a:solidFill>
                <a:latin typeface="Hanken Grotesk SemiBold" pitchFamily="34" charset="0"/>
                <a:ea typeface="Hanken Grotesk SemiBold" pitchFamily="34" charset="-122"/>
                <a:cs typeface="Hanken Grotesk SemiBold" pitchFamily="34" charset="-120"/>
              </a:rPr>
              <a:t>ZEGOCLOUD</a:t>
            </a:r>
            <a:endParaRPr lang="en-US" sz="1200" dirty="0"/>
          </a:p>
        </p:txBody>
      </p:sp>
      <p:sp>
        <p:nvSpPr>
          <p:cNvPr id="6" name="Text 4"/>
          <p:cNvSpPr/>
          <p:nvPr/>
        </p:nvSpPr>
        <p:spPr>
          <a:xfrm>
            <a:off x="838179" y="3002657"/>
            <a:ext cx="2381885" cy="1215033"/>
          </a:xfrm>
          <a:prstGeom prst="rect">
            <a:avLst/>
          </a:prstGeom>
          <a:noFill/>
          <a:ln/>
        </p:spPr>
        <p:txBody>
          <a:bodyPr wrap="square" lIns="0" tIns="0" rIns="0" bIns="0" rtlCol="0" anchor="t">
            <a:normAutofit/>
          </a:bodyPr>
          <a:lstStyle/>
          <a:p>
            <a:pPr algn="l" indent="0" marL="0">
              <a:lnSpc>
                <a:spcPct val="87000"/>
              </a:lnSpc>
              <a:buNone/>
            </a:pPr>
            <a:r>
              <a:rPr lang="en-US" sz="4600" spc="-69" kern="0" dirty="0">
                <a:solidFill>
                  <a:srgbClr val="FFFFFF"/>
                </a:solidFill>
                <a:latin typeface="Fraunces SemiBold" pitchFamily="34" charset="0"/>
                <a:ea typeface="Fraunces SemiBold" pitchFamily="34" charset="-122"/>
                <a:cs typeface="Fraunces SemiBold" pitchFamily="34" charset="-120"/>
              </a:rPr>
              <a:t>Lớp realtime</a:t>
            </a:r>
            <a:endParaRPr lang="en-US" sz="4600" dirty="0"/>
          </a:p>
        </p:txBody>
      </p:sp>
      <p:sp>
        <p:nvSpPr>
          <p:cNvPr id="7" name="Text 5"/>
          <p:cNvSpPr/>
          <p:nvPr/>
        </p:nvSpPr>
        <p:spPr>
          <a:xfrm>
            <a:off x="838179" y="4446290"/>
            <a:ext cx="2381885" cy="639961"/>
          </a:xfrm>
          <a:prstGeom prst="rect">
            <a:avLst/>
          </a:prstGeom>
          <a:noFill/>
          <a:ln/>
        </p:spPr>
        <p:txBody>
          <a:bodyPr wrap="square" lIns="0" tIns="0" rIns="0" bIns="0" rtlCol="0" anchor="t">
            <a:normAutofit/>
          </a:bodyPr>
          <a:lstStyle/>
          <a:p>
            <a:pPr algn="l" indent="0" marL="0">
              <a:lnSpc>
                <a:spcPct val="117000"/>
              </a:lnSpc>
              <a:buNone/>
            </a:pPr>
            <a:r>
              <a:rPr lang="en-US" sz="1800" dirty="0">
                <a:solidFill>
                  <a:srgbClr val="FFFFFF"/>
                </a:solidFill>
                <a:latin typeface="Hanken Grotesk" pitchFamily="34" charset="0"/>
                <a:ea typeface="Hanken Grotesk" pitchFamily="34" charset="-122"/>
                <a:cs typeface="Hanken Grotesk" pitchFamily="34" charset="-120"/>
              </a:rPr>
              <a:t>Truyền và nhận luồng media thời gian thực.</a:t>
            </a:r>
            <a:endParaRPr lang="en-US" sz="1800" dirty="0"/>
          </a:p>
        </p:txBody>
      </p:sp>
      <p:sp>
        <p:nvSpPr>
          <p:cNvPr id="8" name="Shape 6"/>
          <p:cNvSpPr/>
          <p:nvPr/>
        </p:nvSpPr>
        <p:spPr>
          <a:xfrm>
            <a:off x="838179" y="5275163"/>
            <a:ext cx="2381885" cy="31651"/>
          </a:xfrm>
          <a:prstGeom prst="roundRect">
            <a:avLst>
              <a:gd name="adj" fmla="val 49998"/>
            </a:avLst>
          </a:prstGeom>
          <a:solidFill>
            <a:srgbClr val="B8D0CB"/>
          </a:solidFill>
          <a:ln/>
        </p:spPr>
      </p:sp>
      <p:sp>
        <p:nvSpPr>
          <p:cNvPr id="9" name="Text 7"/>
          <p:cNvSpPr/>
          <p:nvPr/>
        </p:nvSpPr>
        <p:spPr>
          <a:xfrm>
            <a:off x="838179" y="5495826"/>
            <a:ext cx="2381885" cy="429220"/>
          </a:xfrm>
          <a:prstGeom prst="rect">
            <a:avLst/>
          </a:prstGeom>
          <a:noFill/>
          <a:ln/>
        </p:spPr>
        <p:txBody>
          <a:bodyPr wrap="square" lIns="0" tIns="0" rIns="0" bIns="0" rtlCol="0" anchor="t">
            <a:normAutofit/>
          </a:bodyPr>
          <a:lstStyle/>
          <a:p>
            <a:pPr algn="l" indent="0" marL="0">
              <a:lnSpc>
                <a:spcPct val="108000"/>
              </a:lnSpc>
              <a:buNone/>
            </a:pPr>
            <a:r>
              <a:rPr lang="en-US" sz="1300" dirty="0">
                <a:solidFill>
                  <a:srgbClr val="FFFFFF"/>
                </a:solidFill>
                <a:latin typeface="Hanken Grotesk" pitchFamily="34" charset="0"/>
                <a:ea typeface="Hanken Grotesk" pitchFamily="34" charset="-122"/>
                <a:cs typeface="Hanken Grotesk" pitchFamily="34" charset="-120"/>
              </a:rPr>
              <a:t>SDK · dịch vụ âm thanh · dịch vụ video</a:t>
            </a:r>
            <a:endParaRPr lang="en-US" sz="1300" dirty="0"/>
          </a:p>
        </p:txBody>
      </p:sp>
      <p:sp>
        <p:nvSpPr>
          <p:cNvPr id="10" name="Text 8"/>
          <p:cNvSpPr/>
          <p:nvPr/>
        </p:nvSpPr>
        <p:spPr>
          <a:xfrm>
            <a:off x="3905748" y="2632968"/>
            <a:ext cx="7676363" cy="182860"/>
          </a:xfrm>
          <a:prstGeom prst="rect">
            <a:avLst/>
          </a:prstGeom>
          <a:noFill/>
          <a:ln/>
        </p:spPr>
        <p:txBody>
          <a:bodyPr wrap="none" lIns="0" tIns="0" rIns="0" bIns="0" rtlCol="0" anchor="t"/>
          <a:lstStyle/>
          <a:p>
            <a:pPr algn="l" indent="0" marL="0">
              <a:lnSpc>
                <a:spcPct val="100000"/>
              </a:lnSpc>
              <a:buNone/>
            </a:pPr>
            <a:r>
              <a:rPr lang="en-US" sz="1200" spc="144" kern="0" dirty="0">
                <a:solidFill>
                  <a:srgbClr val="0E3A4A"/>
                </a:solidFill>
                <a:latin typeface="Hanken Grotesk SemiBold" pitchFamily="34" charset="0"/>
                <a:ea typeface="Hanken Grotesk SemiBold" pitchFamily="34" charset="-122"/>
                <a:cs typeface="Hanken Grotesk SemiBold" pitchFamily="34" charset="-120"/>
              </a:rPr>
              <a:t>NỀN TẢNG HỖ TRỢ</a:t>
            </a:r>
            <a:endParaRPr lang="en-US" sz="1200" dirty="0"/>
          </a:p>
        </p:txBody>
      </p:sp>
      <p:pic>
        <p:nvPicPr>
          <p:cNvPr id="11" name="Image 0" descr="preencoded.png">    </p:cNvPr>
          <p:cNvPicPr>
            <a:picLocks noChangeAspect="1"/>
          </p:cNvPicPr>
          <p:nvPr/>
        </p:nvPicPr>
        <p:blipFill>
          <a:blip r:embed="rId1"/>
          <a:stretch>
            <a:fillRect/>
          </a:stretch>
        </p:blipFill>
        <p:spPr>
          <a:xfrm>
            <a:off x="3905748" y="2949186"/>
            <a:ext cx="457189" cy="457200"/>
          </a:xfrm>
          <a:prstGeom prst="rect">
            <a:avLst/>
          </a:prstGeom>
        </p:spPr>
      </p:pic>
      <p:sp>
        <p:nvSpPr>
          <p:cNvPr id="12" name="Text 9"/>
          <p:cNvSpPr/>
          <p:nvPr/>
        </p:nvSpPr>
        <p:spPr>
          <a:xfrm>
            <a:off x="4591530" y="2949178"/>
            <a:ext cx="1720609" cy="243780"/>
          </a:xfrm>
          <a:prstGeom prst="rect">
            <a:avLst/>
          </a:prstGeom>
          <a:noFill/>
          <a:ln/>
        </p:spPr>
        <p:txBody>
          <a:bodyPr wrap="none" lIns="0" tIns="0" rIns="0" bIns="0" rtlCol="0" anchor="t"/>
          <a:lstStyle/>
          <a:p>
            <a:pPr algn="l" indent="0" marL="0">
              <a:lnSpc>
                <a:spcPct val="100000"/>
              </a:lnSpc>
              <a:buNone/>
            </a:pPr>
            <a:r>
              <a:rPr lang="en-US" sz="1600" dirty="0">
                <a:solidFill>
                  <a:srgbClr val="0E3A4A"/>
                </a:solidFill>
                <a:latin typeface="Hanken Grotesk SemiBold" pitchFamily="34" charset="0"/>
                <a:ea typeface="Hanken Grotesk SemiBold" pitchFamily="34" charset="-122"/>
                <a:cs typeface="Hanken Grotesk SemiBold" pitchFamily="34" charset="-120"/>
              </a:rPr>
              <a:t>Flutter</a:t>
            </a:r>
            <a:endParaRPr lang="en-US" sz="1600" dirty="0"/>
          </a:p>
        </p:txBody>
      </p:sp>
      <p:pic>
        <p:nvPicPr>
          <p:cNvPr id="13" name="Image 1" descr="preencoded.png">    </p:cNvPr>
          <p:cNvPicPr>
            <a:picLocks noChangeAspect="1"/>
          </p:cNvPicPr>
          <p:nvPr/>
        </p:nvPicPr>
        <p:blipFill>
          <a:blip r:embed="rId2"/>
          <a:stretch>
            <a:fillRect/>
          </a:stretch>
        </p:blipFill>
        <p:spPr>
          <a:xfrm>
            <a:off x="6616931" y="2844006"/>
            <a:ext cx="457189" cy="457200"/>
          </a:xfrm>
          <a:prstGeom prst="rect">
            <a:avLst/>
          </a:prstGeom>
        </p:spPr>
      </p:pic>
      <p:sp>
        <p:nvSpPr>
          <p:cNvPr id="14" name="Text 10"/>
          <p:cNvSpPr/>
          <p:nvPr/>
        </p:nvSpPr>
        <p:spPr>
          <a:xfrm>
            <a:off x="7302714" y="2949178"/>
            <a:ext cx="500050" cy="274241"/>
          </a:xfrm>
          <a:prstGeom prst="rect">
            <a:avLst/>
          </a:prstGeom>
          <a:noFill/>
          <a:ln/>
        </p:spPr>
        <p:txBody>
          <a:bodyPr wrap="none" lIns="0" tIns="0" rIns="0" bIns="0" rtlCol="0" anchor="t"/>
          <a:lstStyle/>
          <a:p>
            <a:pPr algn="l" indent="0" marL="0">
              <a:lnSpc>
                <a:spcPct val="100000"/>
              </a:lnSpc>
              <a:buNone/>
            </a:pPr>
            <a:r>
              <a:rPr lang="en-US" sz="1800" dirty="0">
                <a:solidFill>
                  <a:srgbClr val="0E3A4A"/>
                </a:solidFill>
                <a:latin typeface="Hanken Grotesk SemiBold" pitchFamily="34" charset="0"/>
                <a:ea typeface="Hanken Grotesk SemiBold" pitchFamily="34" charset="-122"/>
                <a:cs typeface="Hanken Grotesk SemiBold" pitchFamily="34" charset="-120"/>
              </a:rPr>
              <a:t>iOS</a:t>
            </a:r>
            <a:endParaRPr lang="en-US" sz="1800" dirty="0"/>
          </a:p>
        </p:txBody>
      </p:sp>
      <p:pic>
        <p:nvPicPr>
          <p:cNvPr id="15" name="Image 2" descr="preencoded.png">    </p:cNvPr>
          <p:cNvPicPr>
            <a:picLocks noChangeAspect="1"/>
          </p:cNvPicPr>
          <p:nvPr/>
        </p:nvPicPr>
        <p:blipFill>
          <a:blip r:embed="rId3"/>
          <a:stretch>
            <a:fillRect/>
          </a:stretch>
        </p:blipFill>
        <p:spPr>
          <a:xfrm>
            <a:off x="8107457" y="2844006"/>
            <a:ext cx="457189" cy="457200"/>
          </a:xfrm>
          <a:prstGeom prst="rect">
            <a:avLst/>
          </a:prstGeom>
        </p:spPr>
      </p:pic>
      <p:sp>
        <p:nvSpPr>
          <p:cNvPr id="16" name="Text 11"/>
          <p:cNvSpPr/>
          <p:nvPr/>
        </p:nvSpPr>
        <p:spPr>
          <a:xfrm>
            <a:off x="8793240" y="2949178"/>
            <a:ext cx="2788870" cy="274241"/>
          </a:xfrm>
          <a:prstGeom prst="rect">
            <a:avLst/>
          </a:prstGeom>
          <a:noFill/>
          <a:ln/>
        </p:spPr>
        <p:txBody>
          <a:bodyPr wrap="none" lIns="0" tIns="0" rIns="0" bIns="0" rtlCol="0" anchor="t"/>
          <a:lstStyle/>
          <a:p>
            <a:pPr algn="l" indent="0" marL="0">
              <a:lnSpc>
                <a:spcPct val="100000"/>
              </a:lnSpc>
              <a:buNone/>
            </a:pPr>
            <a:r>
              <a:rPr lang="en-US" sz="1800" dirty="0">
                <a:solidFill>
                  <a:srgbClr val="0E3A4A"/>
                </a:solidFill>
                <a:latin typeface="Hanken Grotesk SemiBold" pitchFamily="34" charset="0"/>
                <a:ea typeface="Hanken Grotesk SemiBold" pitchFamily="34" charset="-122"/>
                <a:cs typeface="Hanken Grotesk SemiBold" pitchFamily="34" charset="-120"/>
              </a:rPr>
              <a:t>React Native</a:t>
            </a:r>
            <a:endParaRPr lang="en-US" sz="1800" dirty="0"/>
          </a:p>
        </p:txBody>
      </p:sp>
      <p:pic>
        <p:nvPicPr>
          <p:cNvPr id="17" name="Image 3" descr="preencoded.png">    </p:cNvPr>
          <p:cNvPicPr>
            <a:picLocks noChangeAspect="1"/>
          </p:cNvPicPr>
          <p:nvPr/>
        </p:nvPicPr>
        <p:blipFill>
          <a:blip r:embed="rId4"/>
          <a:stretch>
            <a:fillRect/>
          </a:stretch>
        </p:blipFill>
        <p:spPr>
          <a:xfrm>
            <a:off x="3905748" y="3528227"/>
            <a:ext cx="457189" cy="457200"/>
          </a:xfrm>
          <a:prstGeom prst="rect">
            <a:avLst/>
          </a:prstGeom>
        </p:spPr>
      </p:pic>
      <p:sp>
        <p:nvSpPr>
          <p:cNvPr id="18" name="Text 12"/>
          <p:cNvSpPr/>
          <p:nvPr/>
        </p:nvSpPr>
        <p:spPr>
          <a:xfrm>
            <a:off x="4591530" y="3528219"/>
            <a:ext cx="1720609" cy="243780"/>
          </a:xfrm>
          <a:prstGeom prst="rect">
            <a:avLst/>
          </a:prstGeom>
          <a:noFill/>
          <a:ln/>
        </p:spPr>
        <p:txBody>
          <a:bodyPr wrap="none" lIns="0" tIns="0" rIns="0" bIns="0" rtlCol="0" anchor="t"/>
          <a:lstStyle/>
          <a:p>
            <a:pPr algn="l" indent="0" marL="0">
              <a:lnSpc>
                <a:spcPct val="100000"/>
              </a:lnSpc>
              <a:buNone/>
            </a:pPr>
            <a:r>
              <a:rPr lang="en-US" sz="1600" dirty="0">
                <a:solidFill>
                  <a:srgbClr val="0E3A4A"/>
                </a:solidFill>
                <a:latin typeface="Hanken Grotesk SemiBold" pitchFamily="34" charset="0"/>
                <a:ea typeface="Hanken Grotesk SemiBold" pitchFamily="34" charset="-122"/>
                <a:cs typeface="Hanken Grotesk SemiBold" pitchFamily="34" charset="-120"/>
              </a:rPr>
              <a:t>Android</a:t>
            </a:r>
            <a:endParaRPr lang="en-US" sz="1600" dirty="0"/>
          </a:p>
        </p:txBody>
      </p:sp>
      <p:pic>
        <p:nvPicPr>
          <p:cNvPr id="19" name="Image 4" descr="preencoded.png">    </p:cNvPr>
          <p:cNvPicPr>
            <a:picLocks noChangeAspect="1"/>
          </p:cNvPicPr>
          <p:nvPr/>
        </p:nvPicPr>
        <p:blipFill>
          <a:blip r:embed="rId5"/>
          <a:stretch>
            <a:fillRect/>
          </a:stretch>
        </p:blipFill>
        <p:spPr>
          <a:xfrm>
            <a:off x="6616931" y="3423047"/>
            <a:ext cx="457189" cy="457200"/>
          </a:xfrm>
          <a:prstGeom prst="rect">
            <a:avLst/>
          </a:prstGeom>
        </p:spPr>
      </p:pic>
      <p:sp>
        <p:nvSpPr>
          <p:cNvPr id="20" name="Text 13"/>
          <p:cNvSpPr/>
          <p:nvPr/>
        </p:nvSpPr>
        <p:spPr>
          <a:xfrm>
            <a:off x="7302714" y="3528219"/>
            <a:ext cx="4279396" cy="274241"/>
          </a:xfrm>
          <a:prstGeom prst="rect">
            <a:avLst/>
          </a:prstGeom>
          <a:noFill/>
          <a:ln/>
        </p:spPr>
        <p:txBody>
          <a:bodyPr wrap="none" lIns="0" tIns="0" rIns="0" bIns="0" rtlCol="0" anchor="t"/>
          <a:lstStyle/>
          <a:p>
            <a:pPr algn="l" indent="0" marL="0">
              <a:lnSpc>
                <a:spcPct val="100000"/>
              </a:lnSpc>
              <a:buNone/>
            </a:pPr>
            <a:r>
              <a:rPr lang="en-US" sz="1800" dirty="0">
                <a:solidFill>
                  <a:srgbClr val="0E3A4A"/>
                </a:solidFill>
                <a:latin typeface="Hanken Grotesk SemiBold" pitchFamily="34" charset="0"/>
                <a:ea typeface="Hanken Grotesk SemiBold" pitchFamily="34" charset="-122"/>
                <a:cs typeface="Hanken Grotesk SemiBold" pitchFamily="34" charset="-120"/>
              </a:rPr>
              <a:t>Web</a:t>
            </a:r>
            <a:endParaRPr lang="en-US" sz="1800" dirty="0"/>
          </a:p>
        </p:txBody>
      </p:sp>
      <p:sp>
        <p:nvSpPr>
          <p:cNvPr id="21" name="Text 14"/>
          <p:cNvSpPr/>
          <p:nvPr/>
        </p:nvSpPr>
        <p:spPr>
          <a:xfrm>
            <a:off x="3905748" y="4804470"/>
            <a:ext cx="7676363" cy="639961"/>
          </a:xfrm>
          <a:prstGeom prst="rect">
            <a:avLst/>
          </a:prstGeom>
          <a:noFill/>
          <a:ln/>
        </p:spPr>
        <p:txBody>
          <a:bodyPr wrap="square" lIns="0" tIns="0" rIns="0" bIns="0" rtlCol="0" anchor="t">
            <a:normAutofit/>
          </a:bodyPr>
          <a:lstStyle/>
          <a:p>
            <a:pPr algn="l" indent="0" marL="0">
              <a:lnSpc>
                <a:spcPct val="117000"/>
              </a:lnSpc>
              <a:buNone/>
            </a:pPr>
            <a:r>
              <a:rPr lang="en-US" sz="1800" b="1" dirty="0">
                <a:solidFill>
                  <a:srgbClr val="0E3A4A"/>
                </a:solidFill>
                <a:latin typeface="Hanken Grotesk Bold" pitchFamily="34" charset="0"/>
                <a:ea typeface="Hanken Grotesk Bold" pitchFamily="34" charset="-122"/>
                <a:cs typeface="Hanken Grotesk Bold" pitchFamily="34" charset="-120"/>
              </a:rPr>
              <a:t>Flutter</a:t>
            </a:r>
            <a:pPr algn="l" indent="0" marL="0">
              <a:lnSpc>
                <a:spcPct val="117000"/>
              </a:lnSpc>
              <a:buNone/>
            </a:pPr>
            <a:r>
              <a:rPr lang="en-US" sz="1800" dirty="0">
                <a:solidFill>
                  <a:srgbClr val="0E3A4A"/>
                </a:solidFill>
                <a:latin typeface="Hanken Grotesk" pitchFamily="34" charset="0"/>
                <a:ea typeface="Hanken Grotesk" pitchFamily="34" charset="-122"/>
                <a:cs typeface="Hanken Grotesk" pitchFamily="34" charset="-120"/>
              </a:rPr>
              <a:t> đảm nhiệm giao diện và luồng sử dụng. </a:t>
            </a:r>
            <a:pPr algn="l" indent="0" marL="0">
              <a:lnSpc>
                <a:spcPct val="117000"/>
              </a:lnSpc>
              <a:buNone/>
            </a:pPr>
            <a:r>
              <a:rPr lang="en-US" sz="1800" b="1" dirty="0">
                <a:solidFill>
                  <a:srgbClr val="0E3A4A"/>
                </a:solidFill>
                <a:latin typeface="Hanken Grotesk Bold" pitchFamily="34" charset="0"/>
                <a:ea typeface="Hanken Grotesk Bold" pitchFamily="34" charset="-122"/>
                <a:cs typeface="Hanken Grotesk Bold" pitchFamily="34" charset="-120"/>
              </a:rPr>
              <a:t>ZEGOCLOUD</a:t>
            </a:r>
            <a:pPr algn="l" indent="0" marL="0">
              <a:lnSpc>
                <a:spcPct val="117000"/>
              </a:lnSpc>
              <a:buNone/>
            </a:pPr>
            <a:r>
              <a:rPr lang="en-US" sz="1800" dirty="0">
                <a:solidFill>
                  <a:srgbClr val="0E3A4A"/>
                </a:solidFill>
                <a:latin typeface="Hanken Grotesk" pitchFamily="34" charset="0"/>
                <a:ea typeface="Hanken Grotesk" pitchFamily="34" charset="-122"/>
                <a:cs typeface="Hanken Grotesk" pitchFamily="34" charset="-120"/>
              </a:rPr>
              <a:t> đảm nhiệm phần truyền và nhận media.</a:t>
            </a:r>
            <a:endParaRPr lang="en-US" sz="180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spTree>
      <p:nvGrpSpPr>
        <p:cNvPr id="1" name=""/>
        <p:cNvGrpSpPr/>
        <p:nvPr/>
      </p:nvGrpSpPr>
      <p:grpSpPr>
        <a:xfrm>
          <a:off x="0" y="0"/>
          <a:ext cx="0" cy="0"/>
          <a:chOff x="0" y="0"/>
          <a:chExt cx="0" cy="0"/>
        </a:xfrm>
      </p:grpSpPr>
      <p:sp>
        <p:nvSpPr>
          <p:cNvPr id="2" name="Text 0"/>
          <p:cNvSpPr/>
          <p:nvPr/>
        </p:nvSpPr>
        <p:spPr>
          <a:xfrm>
            <a:off x="609585" y="609600"/>
            <a:ext cx="11582110" cy="182860"/>
          </a:xfrm>
          <a:prstGeom prst="rect">
            <a:avLst/>
          </a:prstGeom>
          <a:noFill/>
          <a:ln/>
        </p:spPr>
        <p:txBody>
          <a:bodyPr wrap="none" lIns="0" tIns="0" rIns="0" bIns="0" rtlCol="0" anchor="t"/>
          <a:lstStyle/>
          <a:p>
            <a:pPr algn="l" indent="0" marL="0">
              <a:lnSpc>
                <a:spcPct val="100000"/>
              </a:lnSpc>
              <a:buNone/>
            </a:pPr>
            <a:r>
              <a:rPr lang="en-US" sz="1200" spc="144" kern="0" dirty="0">
                <a:solidFill>
                  <a:srgbClr val="0E3A4A"/>
                </a:solidFill>
                <a:latin typeface="Hanken Grotesk SemiBold" pitchFamily="34" charset="0"/>
                <a:ea typeface="Hanken Grotesk SemiBold" pitchFamily="34" charset="-122"/>
                <a:cs typeface="Hanken Grotesk SemiBold" pitchFamily="34" charset="-120"/>
              </a:rPr>
              <a:t>03 · LỰA CHỌN CÔNG NGHỆ</a:t>
            </a:r>
            <a:endParaRPr lang="en-US" sz="1200" dirty="0"/>
          </a:p>
        </p:txBody>
      </p:sp>
      <p:sp>
        <p:nvSpPr>
          <p:cNvPr id="3" name="Text 1"/>
          <p:cNvSpPr/>
          <p:nvPr/>
        </p:nvSpPr>
        <p:spPr>
          <a:xfrm>
            <a:off x="609585" y="884535"/>
            <a:ext cx="10972526" cy="658316"/>
          </a:xfrm>
          <a:prstGeom prst="rect">
            <a:avLst/>
          </a:prstGeom>
          <a:noFill/>
          <a:ln/>
        </p:spPr>
        <p:txBody>
          <a:bodyPr wrap="none" lIns="0" tIns="0" rIns="0" bIns="0" rtlCol="0" anchor="t"/>
          <a:lstStyle/>
          <a:p>
            <a:pPr algn="l" indent="0" marL="0">
              <a:lnSpc>
                <a:spcPct val="90000"/>
              </a:lnSpc>
              <a:buNone/>
            </a:pPr>
            <a:r>
              <a:rPr lang="en-US" sz="4800" spc="-58" kern="0" dirty="0">
                <a:solidFill>
                  <a:srgbClr val="0E3A4A"/>
                </a:solidFill>
                <a:latin typeface="Fraunces SemiBold" pitchFamily="34" charset="0"/>
                <a:ea typeface="Fraunces SemiBold" pitchFamily="34" charset="-122"/>
                <a:cs typeface="Fraunces SemiBold" pitchFamily="34" charset="-120"/>
              </a:rPr>
              <a:t>Vì sao nhóm chọn ZEGOCLOUD?</a:t>
            </a:r>
            <a:endParaRPr lang="en-US" sz="4800" dirty="0"/>
          </a:p>
        </p:txBody>
      </p:sp>
      <p:sp>
        <p:nvSpPr>
          <p:cNvPr id="4" name="Shape 2"/>
          <p:cNvSpPr/>
          <p:nvPr/>
        </p:nvSpPr>
        <p:spPr>
          <a:xfrm>
            <a:off x="609585" y="1771452"/>
            <a:ext cx="5410065" cy="1754386"/>
          </a:xfrm>
          <a:prstGeom prst="roundRect">
            <a:avLst>
              <a:gd name="adj" fmla="val 651"/>
            </a:avLst>
          </a:prstGeom>
          <a:solidFill>
            <a:srgbClr val="DBEBE1"/>
          </a:solidFill>
          <a:ln/>
        </p:spPr>
      </p:sp>
      <p:sp>
        <p:nvSpPr>
          <p:cNvPr id="5" name="Shape 3"/>
          <p:cNvSpPr/>
          <p:nvPr/>
        </p:nvSpPr>
        <p:spPr>
          <a:xfrm>
            <a:off x="838179" y="2000052"/>
            <a:ext cx="510071" cy="400050"/>
          </a:xfrm>
          <a:prstGeom prst="roundRect">
            <a:avLst>
              <a:gd name="adj" fmla="val 2857"/>
            </a:avLst>
          </a:prstGeom>
          <a:solidFill>
            <a:srgbClr val="0E3A4A"/>
          </a:solidFill>
          <a:ln w="12700">
            <a:solidFill>
              <a:srgbClr val="C1D1C7"/>
            </a:solidFill>
            <a:prstDash val="solid"/>
          </a:ln>
        </p:spPr>
      </p:sp>
      <p:sp>
        <p:nvSpPr>
          <p:cNvPr id="6" name="Text 4"/>
          <p:cNvSpPr/>
          <p:nvPr/>
        </p:nvSpPr>
        <p:spPr>
          <a:xfrm>
            <a:off x="965176" y="2085777"/>
            <a:ext cx="865662" cy="228600"/>
          </a:xfrm>
          <a:prstGeom prst="rect">
            <a:avLst/>
          </a:prstGeom>
          <a:noFill/>
          <a:ln/>
        </p:spPr>
        <p:txBody>
          <a:bodyPr wrap="none" lIns="0" tIns="0" rIns="0" bIns="0" rtlCol="0" anchor="t"/>
          <a:lstStyle/>
          <a:p>
            <a:pPr algn="l" indent="0" marL="0">
              <a:lnSpc>
                <a:spcPct val="83000"/>
              </a:lnSpc>
              <a:buNone/>
            </a:pPr>
            <a:r>
              <a:rPr lang="en-US" sz="1800" dirty="0">
                <a:solidFill>
                  <a:srgbClr val="FFFFFF"/>
                </a:solidFill>
                <a:latin typeface="Hanken Grotesk SemiBold" pitchFamily="34" charset="0"/>
                <a:ea typeface="Hanken Grotesk SemiBold" pitchFamily="34" charset="-122"/>
                <a:cs typeface="Hanken Grotesk SemiBold" pitchFamily="34" charset="-120"/>
              </a:rPr>
              <a:t>01</a:t>
            </a:r>
            <a:endParaRPr lang="en-US" sz="1800" dirty="0"/>
          </a:p>
        </p:txBody>
      </p:sp>
      <p:sp>
        <p:nvSpPr>
          <p:cNvPr id="7" name="Text 5"/>
          <p:cNvSpPr/>
          <p:nvPr/>
        </p:nvSpPr>
        <p:spPr>
          <a:xfrm>
            <a:off x="838179" y="2492177"/>
            <a:ext cx="4952876" cy="319980"/>
          </a:xfrm>
          <a:prstGeom prst="rect">
            <a:avLst/>
          </a:prstGeom>
          <a:noFill/>
          <a:ln/>
        </p:spPr>
        <p:txBody>
          <a:bodyPr wrap="none" lIns="0" tIns="0" rIns="0" bIns="0" rtlCol="0" anchor="t"/>
          <a:lstStyle/>
          <a:p>
            <a:pPr algn="l" indent="0" marL="0">
              <a:lnSpc>
                <a:spcPct val="100000"/>
              </a:lnSpc>
              <a:buNone/>
            </a:pPr>
            <a:r>
              <a:rPr lang="en-US" sz="2100" dirty="0">
                <a:solidFill>
                  <a:srgbClr val="0E3A4A"/>
                </a:solidFill>
                <a:latin typeface="Hanken Grotesk SemiBold" pitchFamily="34" charset="0"/>
                <a:ea typeface="Hanken Grotesk SemiBold" pitchFamily="34" charset="-122"/>
                <a:cs typeface="Hanken Grotesk SemiBold" pitchFamily="34" charset="-120"/>
              </a:rPr>
              <a:t>SDK hỗ trợ Flutter</a:t>
            </a:r>
            <a:endParaRPr lang="en-US" sz="2100" dirty="0"/>
          </a:p>
        </p:txBody>
      </p:sp>
      <p:sp>
        <p:nvSpPr>
          <p:cNvPr id="8" name="Text 6"/>
          <p:cNvSpPr/>
          <p:nvPr/>
        </p:nvSpPr>
        <p:spPr>
          <a:xfrm>
            <a:off x="838179" y="2977257"/>
            <a:ext cx="5181470" cy="319980"/>
          </a:xfrm>
          <a:prstGeom prst="rect">
            <a:avLst/>
          </a:prstGeom>
          <a:noFill/>
          <a:ln/>
        </p:spPr>
        <p:txBody>
          <a:bodyPr wrap="none" lIns="0" tIns="0" rIns="0" bIns="0" rtlCol="0" anchor="t"/>
          <a:lstStyle/>
          <a:p>
            <a:pPr algn="l" indent="0" marL="0">
              <a:lnSpc>
                <a:spcPct val="117000"/>
              </a:lnSpc>
              <a:buNone/>
            </a:pPr>
            <a:r>
              <a:rPr lang="en-US" sz="1800" dirty="0">
                <a:solidFill>
                  <a:srgbClr val="0E3A4A"/>
                </a:solidFill>
                <a:latin typeface="Hanken Grotesk" pitchFamily="34" charset="0"/>
                <a:ea typeface="Hanken Grotesk" pitchFamily="34" charset="-122"/>
                <a:cs typeface="Hanken Grotesk" pitchFamily="34" charset="-120"/>
              </a:rPr>
              <a:t>Có thể tích hợp tương đối nhanh vào ứng dụng.</a:t>
            </a:r>
            <a:endParaRPr lang="en-US" sz="1800" dirty="0"/>
          </a:p>
        </p:txBody>
      </p:sp>
      <p:sp>
        <p:nvSpPr>
          <p:cNvPr id="9" name="Shape 7"/>
          <p:cNvSpPr/>
          <p:nvPr/>
        </p:nvSpPr>
        <p:spPr>
          <a:xfrm>
            <a:off x="6172046" y="1771452"/>
            <a:ext cx="5410065" cy="1754386"/>
          </a:xfrm>
          <a:prstGeom prst="roundRect">
            <a:avLst>
              <a:gd name="adj" fmla="val 651"/>
            </a:avLst>
          </a:prstGeom>
          <a:solidFill>
            <a:srgbClr val="DBEBE1"/>
          </a:solidFill>
          <a:ln/>
        </p:spPr>
      </p:sp>
      <p:sp>
        <p:nvSpPr>
          <p:cNvPr id="10" name="Shape 8"/>
          <p:cNvSpPr/>
          <p:nvPr/>
        </p:nvSpPr>
        <p:spPr>
          <a:xfrm>
            <a:off x="6400640" y="2000052"/>
            <a:ext cx="510071" cy="400050"/>
          </a:xfrm>
          <a:prstGeom prst="roundRect">
            <a:avLst>
              <a:gd name="adj" fmla="val 2857"/>
            </a:avLst>
          </a:prstGeom>
          <a:solidFill>
            <a:srgbClr val="0E3A4A"/>
          </a:solidFill>
          <a:ln w="12700">
            <a:solidFill>
              <a:srgbClr val="C1D1C7"/>
            </a:solidFill>
            <a:prstDash val="solid"/>
          </a:ln>
        </p:spPr>
      </p:sp>
      <p:sp>
        <p:nvSpPr>
          <p:cNvPr id="11" name="Text 9"/>
          <p:cNvSpPr/>
          <p:nvPr/>
        </p:nvSpPr>
        <p:spPr>
          <a:xfrm>
            <a:off x="6527637" y="2085777"/>
            <a:ext cx="865662" cy="228600"/>
          </a:xfrm>
          <a:prstGeom prst="rect">
            <a:avLst/>
          </a:prstGeom>
          <a:noFill/>
          <a:ln/>
        </p:spPr>
        <p:txBody>
          <a:bodyPr wrap="none" lIns="0" tIns="0" rIns="0" bIns="0" rtlCol="0" anchor="t"/>
          <a:lstStyle/>
          <a:p>
            <a:pPr algn="l" indent="0" marL="0">
              <a:lnSpc>
                <a:spcPct val="83000"/>
              </a:lnSpc>
              <a:buNone/>
            </a:pPr>
            <a:r>
              <a:rPr lang="en-US" sz="1800" dirty="0">
                <a:solidFill>
                  <a:srgbClr val="FFFFFF"/>
                </a:solidFill>
                <a:latin typeface="Hanken Grotesk SemiBold" pitchFamily="34" charset="0"/>
                <a:ea typeface="Hanken Grotesk SemiBold" pitchFamily="34" charset="-122"/>
                <a:cs typeface="Hanken Grotesk SemiBold" pitchFamily="34" charset="-120"/>
              </a:rPr>
              <a:t>02</a:t>
            </a:r>
            <a:endParaRPr lang="en-US" sz="1800" dirty="0"/>
          </a:p>
        </p:txBody>
      </p:sp>
      <p:sp>
        <p:nvSpPr>
          <p:cNvPr id="12" name="Text 10"/>
          <p:cNvSpPr/>
          <p:nvPr/>
        </p:nvSpPr>
        <p:spPr>
          <a:xfrm>
            <a:off x="6400640" y="2492177"/>
            <a:ext cx="4952876" cy="319980"/>
          </a:xfrm>
          <a:prstGeom prst="rect">
            <a:avLst/>
          </a:prstGeom>
          <a:noFill/>
          <a:ln/>
        </p:spPr>
        <p:txBody>
          <a:bodyPr wrap="none" lIns="0" tIns="0" rIns="0" bIns="0" rtlCol="0" anchor="t"/>
          <a:lstStyle/>
          <a:p>
            <a:pPr algn="l" indent="0" marL="0">
              <a:lnSpc>
                <a:spcPct val="100000"/>
              </a:lnSpc>
              <a:buNone/>
            </a:pPr>
            <a:r>
              <a:rPr lang="en-US" sz="2100" dirty="0">
                <a:solidFill>
                  <a:srgbClr val="0E3A4A"/>
                </a:solidFill>
                <a:latin typeface="Hanken Grotesk SemiBold" pitchFamily="34" charset="0"/>
                <a:ea typeface="Hanken Grotesk SemiBold" pitchFamily="34" charset="-122"/>
                <a:cs typeface="Hanken Grotesk SemiBold" pitchFamily="34" charset="-120"/>
              </a:rPr>
              <a:t>Nhiều mô hình cuộc gọi</a:t>
            </a:r>
            <a:endParaRPr lang="en-US" sz="2100" dirty="0"/>
          </a:p>
        </p:txBody>
      </p:sp>
      <p:sp>
        <p:nvSpPr>
          <p:cNvPr id="13" name="Text 11"/>
          <p:cNvSpPr/>
          <p:nvPr/>
        </p:nvSpPr>
        <p:spPr>
          <a:xfrm>
            <a:off x="6400640" y="2977257"/>
            <a:ext cx="5181470" cy="319980"/>
          </a:xfrm>
          <a:prstGeom prst="rect">
            <a:avLst/>
          </a:prstGeom>
          <a:noFill/>
          <a:ln/>
        </p:spPr>
        <p:txBody>
          <a:bodyPr wrap="none" lIns="0" tIns="0" rIns="0" bIns="0" rtlCol="0" anchor="t"/>
          <a:lstStyle/>
          <a:p>
            <a:pPr algn="l" indent="0" marL="0">
              <a:lnSpc>
                <a:spcPct val="117000"/>
              </a:lnSpc>
              <a:buNone/>
            </a:pPr>
            <a:r>
              <a:rPr lang="en-US" sz="1800" dirty="0">
                <a:solidFill>
                  <a:srgbClr val="0E3A4A"/>
                </a:solidFill>
                <a:latin typeface="Hanken Grotesk" pitchFamily="34" charset="0"/>
                <a:ea typeface="Hanken Grotesk" pitchFamily="34" charset="-122"/>
                <a:cs typeface="Hanken Grotesk" pitchFamily="34" charset="-120"/>
              </a:rPr>
              <a:t>Hỗ trợ Video Call 1-1 và cuộc gọi nhóm.</a:t>
            </a:r>
            <a:endParaRPr lang="en-US" sz="1800" dirty="0"/>
          </a:p>
        </p:txBody>
      </p:sp>
      <p:sp>
        <p:nvSpPr>
          <p:cNvPr id="14" name="Shape 12"/>
          <p:cNvSpPr/>
          <p:nvPr/>
        </p:nvSpPr>
        <p:spPr>
          <a:xfrm>
            <a:off x="609585" y="3678238"/>
            <a:ext cx="5410065" cy="2394347"/>
          </a:xfrm>
          <a:prstGeom prst="roundRect">
            <a:avLst>
              <a:gd name="adj" fmla="val 477"/>
            </a:avLst>
          </a:prstGeom>
          <a:solidFill>
            <a:srgbClr val="DBEBE1"/>
          </a:solidFill>
          <a:ln/>
        </p:spPr>
      </p:sp>
      <p:sp>
        <p:nvSpPr>
          <p:cNvPr id="15" name="Shape 13"/>
          <p:cNvSpPr/>
          <p:nvPr/>
        </p:nvSpPr>
        <p:spPr>
          <a:xfrm>
            <a:off x="838179" y="3906838"/>
            <a:ext cx="510071" cy="400050"/>
          </a:xfrm>
          <a:prstGeom prst="roundRect">
            <a:avLst>
              <a:gd name="adj" fmla="val 2857"/>
            </a:avLst>
          </a:prstGeom>
          <a:solidFill>
            <a:srgbClr val="0E3A4A"/>
          </a:solidFill>
          <a:ln w="12700">
            <a:solidFill>
              <a:srgbClr val="C1D1C7"/>
            </a:solidFill>
            <a:prstDash val="solid"/>
          </a:ln>
        </p:spPr>
      </p:sp>
      <p:sp>
        <p:nvSpPr>
          <p:cNvPr id="16" name="Text 14"/>
          <p:cNvSpPr/>
          <p:nvPr/>
        </p:nvSpPr>
        <p:spPr>
          <a:xfrm>
            <a:off x="965176" y="3992563"/>
            <a:ext cx="865662" cy="228600"/>
          </a:xfrm>
          <a:prstGeom prst="rect">
            <a:avLst/>
          </a:prstGeom>
          <a:noFill/>
          <a:ln/>
        </p:spPr>
        <p:txBody>
          <a:bodyPr wrap="none" lIns="0" tIns="0" rIns="0" bIns="0" rtlCol="0" anchor="t"/>
          <a:lstStyle/>
          <a:p>
            <a:pPr algn="l" indent="0" marL="0">
              <a:lnSpc>
                <a:spcPct val="83000"/>
              </a:lnSpc>
              <a:buNone/>
            </a:pPr>
            <a:r>
              <a:rPr lang="en-US" sz="1800" dirty="0">
                <a:solidFill>
                  <a:srgbClr val="FFFFFF"/>
                </a:solidFill>
                <a:latin typeface="Hanken Grotesk SemiBold" pitchFamily="34" charset="0"/>
                <a:ea typeface="Hanken Grotesk SemiBold" pitchFamily="34" charset="-122"/>
                <a:cs typeface="Hanken Grotesk SemiBold" pitchFamily="34" charset="-120"/>
              </a:rPr>
              <a:t>03</a:t>
            </a:r>
            <a:endParaRPr lang="en-US" sz="1800" dirty="0"/>
          </a:p>
        </p:txBody>
      </p:sp>
      <p:sp>
        <p:nvSpPr>
          <p:cNvPr id="17" name="Text 15"/>
          <p:cNvSpPr/>
          <p:nvPr/>
        </p:nvSpPr>
        <p:spPr>
          <a:xfrm>
            <a:off x="838179" y="4398963"/>
            <a:ext cx="4952876" cy="319980"/>
          </a:xfrm>
          <a:prstGeom prst="rect">
            <a:avLst/>
          </a:prstGeom>
          <a:noFill/>
          <a:ln/>
        </p:spPr>
        <p:txBody>
          <a:bodyPr wrap="none" lIns="0" tIns="0" rIns="0" bIns="0" rtlCol="0" anchor="t"/>
          <a:lstStyle/>
          <a:p>
            <a:pPr algn="l" indent="0" marL="0">
              <a:lnSpc>
                <a:spcPct val="100000"/>
              </a:lnSpc>
              <a:buNone/>
            </a:pPr>
            <a:r>
              <a:rPr lang="en-US" sz="2100" dirty="0">
                <a:solidFill>
                  <a:srgbClr val="0E3A4A"/>
                </a:solidFill>
                <a:latin typeface="Hanken Grotesk SemiBold" pitchFamily="34" charset="0"/>
                <a:ea typeface="Hanken Grotesk SemiBold" pitchFamily="34" charset="-122"/>
                <a:cs typeface="Hanken Grotesk SemiBold" pitchFamily="34" charset="-120"/>
              </a:rPr>
              <a:t>Audio và video có sẵn</a:t>
            </a:r>
            <a:endParaRPr lang="en-US" sz="2100" dirty="0"/>
          </a:p>
        </p:txBody>
      </p:sp>
      <p:sp>
        <p:nvSpPr>
          <p:cNvPr id="18" name="Text 16"/>
          <p:cNvSpPr/>
          <p:nvPr/>
        </p:nvSpPr>
        <p:spPr>
          <a:xfrm>
            <a:off x="838179" y="4884043"/>
            <a:ext cx="5181470" cy="319980"/>
          </a:xfrm>
          <a:prstGeom prst="rect">
            <a:avLst/>
          </a:prstGeom>
          <a:noFill/>
          <a:ln/>
        </p:spPr>
        <p:txBody>
          <a:bodyPr wrap="none" lIns="0" tIns="0" rIns="0" bIns="0" rtlCol="0" anchor="t"/>
          <a:lstStyle/>
          <a:p>
            <a:pPr algn="l" indent="0" marL="0">
              <a:lnSpc>
                <a:spcPct val="117000"/>
              </a:lnSpc>
              <a:buNone/>
            </a:pPr>
            <a:r>
              <a:rPr lang="en-US" sz="1800" dirty="0">
                <a:solidFill>
                  <a:srgbClr val="0E3A4A"/>
                </a:solidFill>
                <a:latin typeface="Hanken Grotesk" pitchFamily="34" charset="0"/>
                <a:ea typeface="Hanken Grotesk" pitchFamily="34" charset="-122"/>
                <a:cs typeface="Hanken Grotesk" pitchFamily="34" charset="-120"/>
              </a:rPr>
              <a:t>Có các chức năng xử lý audio/video để sử dụng.</a:t>
            </a:r>
            <a:endParaRPr lang="en-US" sz="1800" dirty="0"/>
          </a:p>
        </p:txBody>
      </p:sp>
      <p:sp>
        <p:nvSpPr>
          <p:cNvPr id="19" name="Shape 17"/>
          <p:cNvSpPr/>
          <p:nvPr/>
        </p:nvSpPr>
        <p:spPr>
          <a:xfrm>
            <a:off x="6172046" y="3678238"/>
            <a:ext cx="5410065" cy="2394347"/>
          </a:xfrm>
          <a:prstGeom prst="roundRect">
            <a:avLst>
              <a:gd name="adj" fmla="val 477"/>
            </a:avLst>
          </a:prstGeom>
          <a:solidFill>
            <a:srgbClr val="DBEBE1"/>
          </a:solidFill>
          <a:ln/>
        </p:spPr>
      </p:sp>
      <p:sp>
        <p:nvSpPr>
          <p:cNvPr id="20" name="Shape 18"/>
          <p:cNvSpPr/>
          <p:nvPr/>
        </p:nvSpPr>
        <p:spPr>
          <a:xfrm>
            <a:off x="6400640" y="3906838"/>
            <a:ext cx="510071" cy="400050"/>
          </a:xfrm>
          <a:prstGeom prst="roundRect">
            <a:avLst>
              <a:gd name="adj" fmla="val 2857"/>
            </a:avLst>
          </a:prstGeom>
          <a:solidFill>
            <a:srgbClr val="0E3A4A"/>
          </a:solidFill>
          <a:ln w="12700">
            <a:solidFill>
              <a:srgbClr val="C1D1C7"/>
            </a:solidFill>
            <a:prstDash val="solid"/>
          </a:ln>
        </p:spPr>
      </p:sp>
      <p:sp>
        <p:nvSpPr>
          <p:cNvPr id="21" name="Text 19"/>
          <p:cNvSpPr/>
          <p:nvPr/>
        </p:nvSpPr>
        <p:spPr>
          <a:xfrm>
            <a:off x="6527637" y="3992563"/>
            <a:ext cx="865662" cy="228600"/>
          </a:xfrm>
          <a:prstGeom prst="rect">
            <a:avLst/>
          </a:prstGeom>
          <a:noFill/>
          <a:ln/>
        </p:spPr>
        <p:txBody>
          <a:bodyPr wrap="none" lIns="0" tIns="0" rIns="0" bIns="0" rtlCol="0" anchor="t"/>
          <a:lstStyle/>
          <a:p>
            <a:pPr algn="l" indent="0" marL="0">
              <a:lnSpc>
                <a:spcPct val="83000"/>
              </a:lnSpc>
              <a:buNone/>
            </a:pPr>
            <a:r>
              <a:rPr lang="en-US" sz="1800" dirty="0">
                <a:solidFill>
                  <a:srgbClr val="FFFFFF"/>
                </a:solidFill>
                <a:latin typeface="Hanken Grotesk SemiBold" pitchFamily="34" charset="0"/>
                <a:ea typeface="Hanken Grotesk SemiBold" pitchFamily="34" charset="-122"/>
                <a:cs typeface="Hanken Grotesk SemiBold" pitchFamily="34" charset="-120"/>
              </a:rPr>
              <a:t>04</a:t>
            </a:r>
            <a:endParaRPr lang="en-US" sz="1800" dirty="0"/>
          </a:p>
        </p:txBody>
      </p:sp>
      <p:sp>
        <p:nvSpPr>
          <p:cNvPr id="22" name="Text 20"/>
          <p:cNvSpPr/>
          <p:nvPr/>
        </p:nvSpPr>
        <p:spPr>
          <a:xfrm>
            <a:off x="6400640" y="4398963"/>
            <a:ext cx="4952876" cy="319980"/>
          </a:xfrm>
          <a:prstGeom prst="rect">
            <a:avLst/>
          </a:prstGeom>
          <a:noFill/>
          <a:ln/>
        </p:spPr>
        <p:txBody>
          <a:bodyPr wrap="none" lIns="0" tIns="0" rIns="0" bIns="0" rtlCol="0" anchor="t"/>
          <a:lstStyle/>
          <a:p>
            <a:pPr algn="l" indent="0" marL="0">
              <a:lnSpc>
                <a:spcPct val="100000"/>
              </a:lnSpc>
              <a:buNone/>
            </a:pPr>
            <a:r>
              <a:rPr lang="en-US" sz="2100" dirty="0">
                <a:solidFill>
                  <a:srgbClr val="0E3A4A"/>
                </a:solidFill>
                <a:latin typeface="Hanken Grotesk SemiBold" pitchFamily="34" charset="0"/>
                <a:ea typeface="Hanken Grotesk SemiBold" pitchFamily="34" charset="-122"/>
                <a:cs typeface="Hanken Grotesk SemiBold" pitchFamily="34" charset="-120"/>
              </a:rPr>
              <a:t>Đúng với prototype</a:t>
            </a:r>
            <a:endParaRPr lang="en-US" sz="2100" dirty="0"/>
          </a:p>
        </p:txBody>
      </p:sp>
      <p:sp>
        <p:nvSpPr>
          <p:cNvPr id="23" name="Text 21"/>
          <p:cNvSpPr/>
          <p:nvPr/>
        </p:nvSpPr>
        <p:spPr>
          <a:xfrm>
            <a:off x="6400640" y="4884043"/>
            <a:ext cx="4952876" cy="959941"/>
          </a:xfrm>
          <a:prstGeom prst="rect">
            <a:avLst/>
          </a:prstGeom>
          <a:noFill/>
          <a:ln/>
        </p:spPr>
        <p:txBody>
          <a:bodyPr wrap="square" lIns="0" tIns="0" rIns="0" bIns="0" rtlCol="0" anchor="t">
            <a:normAutofit/>
          </a:bodyPr>
          <a:lstStyle/>
          <a:p>
            <a:pPr algn="l" indent="0" marL="0">
              <a:lnSpc>
                <a:spcPct val="117000"/>
              </a:lnSpc>
              <a:buNone/>
            </a:pPr>
            <a:r>
              <a:rPr lang="en-US" sz="1800" dirty="0">
                <a:solidFill>
                  <a:srgbClr val="0E3A4A"/>
                </a:solidFill>
                <a:latin typeface="Hanken Grotesk" pitchFamily="34" charset="0"/>
                <a:ea typeface="Hanken Grotesk" pitchFamily="34" charset="-122"/>
                <a:cs typeface="Hanken Grotesk" pitchFamily="34" charset="-120"/>
              </a:rPr>
              <a:t>Phù hợp với prototype và demo môn học. Có thể dùng Call Kit để dựng nhanh hoặc dùng SDK cấp thấp để tùy chỉnh sâu hơn.</a:t>
            </a:r>
            <a:endParaRPr lang="en-US" sz="180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spTree>
      <p:nvGrpSpPr>
        <p:cNvPr id="1" name=""/>
        <p:cNvGrpSpPr/>
        <p:nvPr/>
      </p:nvGrpSpPr>
      <p:grpSpPr>
        <a:xfrm>
          <a:off x="0" y="0"/>
          <a:ext cx="0" cy="0"/>
          <a:chOff x="0" y="0"/>
          <a:chExt cx="0" cy="0"/>
        </a:xfrm>
      </p:grpSpPr>
      <p:sp>
        <p:nvSpPr>
          <p:cNvPr id="2" name="Text 0"/>
          <p:cNvSpPr/>
          <p:nvPr/>
        </p:nvSpPr>
        <p:spPr>
          <a:xfrm>
            <a:off x="609585" y="609600"/>
            <a:ext cx="11582110" cy="182860"/>
          </a:xfrm>
          <a:prstGeom prst="rect">
            <a:avLst/>
          </a:prstGeom>
          <a:noFill/>
          <a:ln/>
        </p:spPr>
        <p:txBody>
          <a:bodyPr wrap="none" lIns="0" tIns="0" rIns="0" bIns="0" rtlCol="0" anchor="t"/>
          <a:lstStyle/>
          <a:p>
            <a:pPr algn="l" indent="0" marL="0">
              <a:lnSpc>
                <a:spcPct val="100000"/>
              </a:lnSpc>
              <a:buNone/>
            </a:pPr>
            <a:r>
              <a:rPr lang="en-US" sz="1200" spc="144" kern="0" dirty="0">
                <a:solidFill>
                  <a:srgbClr val="0E3A4A"/>
                </a:solidFill>
                <a:latin typeface="Hanken Grotesk SemiBold" pitchFamily="34" charset="0"/>
                <a:ea typeface="Hanken Grotesk SemiBold" pitchFamily="34" charset="-122"/>
                <a:cs typeface="Hanken Grotesk SemiBold" pitchFamily="34" charset="-120"/>
              </a:rPr>
              <a:t>04 · KIẾN TRÚC</a:t>
            </a:r>
            <a:endParaRPr lang="en-US" sz="1200" dirty="0"/>
          </a:p>
        </p:txBody>
      </p:sp>
      <p:sp>
        <p:nvSpPr>
          <p:cNvPr id="3" name="Text 1"/>
          <p:cNvSpPr/>
          <p:nvPr/>
        </p:nvSpPr>
        <p:spPr>
          <a:xfrm>
            <a:off x="609585" y="884535"/>
            <a:ext cx="10972526" cy="1316633"/>
          </a:xfrm>
          <a:prstGeom prst="rect">
            <a:avLst/>
          </a:prstGeom>
          <a:noFill/>
          <a:ln/>
        </p:spPr>
        <p:txBody>
          <a:bodyPr wrap="square" lIns="0" tIns="0" rIns="0" bIns="0" rtlCol="0" anchor="t">
            <a:normAutofit/>
          </a:bodyPr>
          <a:lstStyle/>
          <a:p>
            <a:pPr algn="l" indent="0" marL="0">
              <a:lnSpc>
                <a:spcPct val="90000"/>
              </a:lnSpc>
              <a:buNone/>
            </a:pPr>
            <a:r>
              <a:rPr lang="en-US" sz="4800" spc="-58" kern="0" dirty="0">
                <a:solidFill>
                  <a:srgbClr val="0E3A4A"/>
                </a:solidFill>
                <a:latin typeface="Fraunces SemiBold" pitchFamily="34" charset="0"/>
                <a:ea typeface="Fraunces SemiBold" pitchFamily="34" charset="-122"/>
                <a:cs typeface="Fraunces SemiBold" pitchFamily="34" charset="-120"/>
              </a:rPr>
              <a:t>Kiến trúc VCall: Flutter điều phối, ZEGOCLOUD truyền media</a:t>
            </a:r>
            <a:endParaRPr lang="en-US" sz="4800" dirty="0"/>
          </a:p>
        </p:txBody>
      </p:sp>
      <p:sp>
        <p:nvSpPr>
          <p:cNvPr id="4" name="Text 2"/>
          <p:cNvSpPr/>
          <p:nvPr/>
        </p:nvSpPr>
        <p:spPr>
          <a:xfrm>
            <a:off x="609585" y="2429768"/>
            <a:ext cx="11582110" cy="319980"/>
          </a:xfrm>
          <a:prstGeom prst="rect">
            <a:avLst/>
          </a:prstGeom>
          <a:noFill/>
          <a:ln/>
        </p:spPr>
        <p:txBody>
          <a:bodyPr wrap="none" lIns="0" tIns="0" rIns="0" bIns="0" rtlCol="0" anchor="t"/>
          <a:lstStyle/>
          <a:p>
            <a:pPr algn="l" indent="0" marL="0">
              <a:lnSpc>
                <a:spcPct val="117000"/>
              </a:lnSpc>
              <a:buNone/>
            </a:pPr>
            <a:r>
              <a:rPr lang="en-US" sz="1800" dirty="0">
                <a:solidFill>
                  <a:srgbClr val="0E3A4A"/>
                </a:solidFill>
                <a:latin typeface="Hanken Grotesk" pitchFamily="34" charset="0"/>
                <a:ea typeface="Hanken Grotesk" pitchFamily="34" charset="-122"/>
                <a:cs typeface="Hanken Grotesk" pitchFamily="34" charset="-120"/>
              </a:rPr>
              <a:t>Ranh giới trách nhiệm rõ: UI và trải nghiệm ở Flutter; kết nối thời gian thực ở ZEGOCLOUD.</a:t>
            </a:r>
            <a:endParaRPr lang="en-US" sz="1800" dirty="0"/>
          </a:p>
        </p:txBody>
      </p:sp>
      <p:pic>
        <p:nvPicPr>
          <p:cNvPr id="5" name="Image 0" descr="preencoded.png">    </p:cNvPr>
          <p:cNvPicPr>
            <a:picLocks noChangeAspect="1"/>
          </p:cNvPicPr>
          <p:nvPr/>
        </p:nvPicPr>
        <p:blipFill>
          <a:blip r:embed="rId1"/>
          <a:stretch>
            <a:fillRect/>
          </a:stretch>
        </p:blipFill>
        <p:spPr>
          <a:xfrm>
            <a:off x="609585" y="3984823"/>
            <a:ext cx="2571686" cy="1428750"/>
          </a:xfrm>
          <a:prstGeom prst="rect">
            <a:avLst/>
          </a:prstGeom>
        </p:spPr>
      </p:pic>
      <p:sp>
        <p:nvSpPr>
          <p:cNvPr id="6" name="Text 3"/>
          <p:cNvSpPr/>
          <p:nvPr/>
        </p:nvSpPr>
        <p:spPr>
          <a:xfrm>
            <a:off x="838179" y="4899223"/>
            <a:ext cx="2114497" cy="274241"/>
          </a:xfrm>
          <a:prstGeom prst="rect">
            <a:avLst/>
          </a:prstGeom>
          <a:noFill/>
          <a:ln/>
        </p:spPr>
        <p:txBody>
          <a:bodyPr wrap="none" lIns="0" tIns="0" rIns="0" bIns="0" rtlCol="0" anchor="t"/>
          <a:lstStyle/>
          <a:p>
            <a:pPr algn="l" indent="0" marL="0">
              <a:lnSpc>
                <a:spcPct val="100000"/>
              </a:lnSpc>
              <a:buNone/>
            </a:pPr>
            <a:r>
              <a:rPr lang="en-US" sz="1800" spc="-22" kern="0" dirty="0">
                <a:solidFill>
                  <a:srgbClr val="0E3A4A"/>
                </a:solidFill>
                <a:latin typeface="Fraunces SemiBold" pitchFamily="34" charset="0"/>
                <a:ea typeface="Fraunces SemiBold" pitchFamily="34" charset="-122"/>
                <a:cs typeface="Fraunces SemiBold" pitchFamily="34" charset="-120"/>
              </a:rPr>
              <a:t>Người dùng A</a:t>
            </a:r>
            <a:endParaRPr lang="en-US" sz="1800" dirty="0"/>
          </a:p>
        </p:txBody>
      </p:sp>
      <p:sp>
        <p:nvSpPr>
          <p:cNvPr id="7" name="Text 4"/>
          <p:cNvSpPr/>
          <p:nvPr/>
        </p:nvSpPr>
        <p:spPr>
          <a:xfrm>
            <a:off x="838179" y="5310584"/>
            <a:ext cx="2114497" cy="639961"/>
          </a:xfrm>
          <a:prstGeom prst="rect">
            <a:avLst/>
          </a:prstGeom>
          <a:noFill/>
          <a:ln/>
        </p:spPr>
        <p:txBody>
          <a:bodyPr wrap="square" lIns="0" tIns="0" rIns="0" bIns="0" rtlCol="0" anchor="t">
            <a:normAutofit/>
          </a:bodyPr>
          <a:lstStyle/>
          <a:p>
            <a:pPr algn="l" indent="0" marL="0">
              <a:lnSpc>
                <a:spcPct val="117000"/>
              </a:lnSpc>
              <a:buNone/>
            </a:pPr>
            <a:r>
              <a:rPr lang="en-US" sz="1800" dirty="0">
                <a:solidFill>
                  <a:srgbClr val="0E3A4A"/>
                </a:solidFill>
                <a:latin typeface="Hanken Grotesk" pitchFamily="34" charset="0"/>
                <a:ea typeface="Hanken Grotesk" pitchFamily="34" charset="-122"/>
                <a:cs typeface="Hanken Grotesk" pitchFamily="34" charset="-120"/>
              </a:rPr>
              <a:t>Thao tác trên Flutter App.</a:t>
            </a:r>
            <a:endParaRPr lang="en-US" sz="1800" dirty="0"/>
          </a:p>
        </p:txBody>
      </p:sp>
      <p:pic>
        <p:nvPicPr>
          <p:cNvPr id="8" name="Image 1" descr="preencoded.png">    </p:cNvPr>
          <p:cNvPicPr>
            <a:picLocks noChangeAspect="1"/>
          </p:cNvPicPr>
          <p:nvPr/>
        </p:nvPicPr>
        <p:blipFill>
          <a:blip r:embed="rId2"/>
          <a:stretch>
            <a:fillRect/>
          </a:stretch>
        </p:blipFill>
        <p:spPr>
          <a:xfrm>
            <a:off x="3409865" y="3641923"/>
            <a:ext cx="2571686" cy="1428750"/>
          </a:xfrm>
          <a:prstGeom prst="rect">
            <a:avLst/>
          </a:prstGeom>
        </p:spPr>
      </p:pic>
      <p:sp>
        <p:nvSpPr>
          <p:cNvPr id="9" name="Text 5"/>
          <p:cNvSpPr/>
          <p:nvPr/>
        </p:nvSpPr>
        <p:spPr>
          <a:xfrm>
            <a:off x="3638459" y="4556323"/>
            <a:ext cx="2114497" cy="274241"/>
          </a:xfrm>
          <a:prstGeom prst="rect">
            <a:avLst/>
          </a:prstGeom>
          <a:noFill/>
          <a:ln/>
        </p:spPr>
        <p:txBody>
          <a:bodyPr wrap="none" lIns="0" tIns="0" rIns="0" bIns="0" rtlCol="0" anchor="t"/>
          <a:lstStyle/>
          <a:p>
            <a:pPr algn="l" indent="0" marL="0">
              <a:lnSpc>
                <a:spcPct val="100000"/>
              </a:lnSpc>
              <a:buNone/>
            </a:pPr>
            <a:r>
              <a:rPr lang="en-US" sz="1800" spc="-22" kern="0" dirty="0">
                <a:solidFill>
                  <a:srgbClr val="0E3A4A"/>
                </a:solidFill>
                <a:latin typeface="Fraunces SemiBold" pitchFamily="34" charset="0"/>
                <a:ea typeface="Fraunces SemiBold" pitchFamily="34" charset="-122"/>
                <a:cs typeface="Fraunces SemiBold" pitchFamily="34" charset="-120"/>
              </a:rPr>
              <a:t>Flutter App</a:t>
            </a:r>
            <a:endParaRPr lang="en-US" sz="1800" dirty="0"/>
          </a:p>
        </p:txBody>
      </p:sp>
      <p:sp>
        <p:nvSpPr>
          <p:cNvPr id="10" name="Text 6"/>
          <p:cNvSpPr/>
          <p:nvPr/>
        </p:nvSpPr>
        <p:spPr>
          <a:xfrm>
            <a:off x="3638459" y="4967684"/>
            <a:ext cx="2114497" cy="639961"/>
          </a:xfrm>
          <a:prstGeom prst="rect">
            <a:avLst/>
          </a:prstGeom>
          <a:noFill/>
          <a:ln/>
        </p:spPr>
        <p:txBody>
          <a:bodyPr wrap="square" lIns="0" tIns="0" rIns="0" bIns="0" rtlCol="0" anchor="t">
            <a:normAutofit/>
          </a:bodyPr>
          <a:lstStyle/>
          <a:p>
            <a:pPr algn="l" indent="0" marL="0">
              <a:lnSpc>
                <a:spcPct val="117000"/>
              </a:lnSpc>
              <a:buNone/>
            </a:pPr>
            <a:r>
              <a:rPr lang="en-US" sz="1800" dirty="0">
                <a:solidFill>
                  <a:srgbClr val="0E3A4A"/>
                </a:solidFill>
                <a:latin typeface="Hanken Grotesk" pitchFamily="34" charset="0"/>
                <a:ea typeface="Hanken Grotesk" pitchFamily="34" charset="-122"/>
                <a:cs typeface="Hanken Grotesk" pitchFamily="34" charset="-120"/>
              </a:rPr>
              <a:t>Gọi ZEGOCLOUD SDK.</a:t>
            </a:r>
            <a:endParaRPr lang="en-US" sz="1800" dirty="0"/>
          </a:p>
        </p:txBody>
      </p:sp>
      <p:pic>
        <p:nvPicPr>
          <p:cNvPr id="11" name="Image 2" descr="preencoded.png">    </p:cNvPr>
          <p:cNvPicPr>
            <a:picLocks noChangeAspect="1"/>
          </p:cNvPicPr>
          <p:nvPr/>
        </p:nvPicPr>
        <p:blipFill>
          <a:blip r:embed="rId3"/>
          <a:stretch>
            <a:fillRect/>
          </a:stretch>
        </p:blipFill>
        <p:spPr>
          <a:xfrm>
            <a:off x="6210145" y="3299023"/>
            <a:ext cx="2571686" cy="1428750"/>
          </a:xfrm>
          <a:prstGeom prst="rect">
            <a:avLst/>
          </a:prstGeom>
        </p:spPr>
      </p:pic>
      <p:sp>
        <p:nvSpPr>
          <p:cNvPr id="12" name="Text 7"/>
          <p:cNvSpPr/>
          <p:nvPr/>
        </p:nvSpPr>
        <p:spPr>
          <a:xfrm>
            <a:off x="6438739" y="4213423"/>
            <a:ext cx="2114497" cy="548481"/>
          </a:xfrm>
          <a:prstGeom prst="rect">
            <a:avLst/>
          </a:prstGeom>
          <a:noFill/>
          <a:ln/>
        </p:spPr>
        <p:txBody>
          <a:bodyPr wrap="square" lIns="0" tIns="0" rIns="0" bIns="0" rtlCol="0" anchor="t">
            <a:normAutofit/>
          </a:bodyPr>
          <a:lstStyle/>
          <a:p>
            <a:pPr algn="l" indent="0" marL="0">
              <a:lnSpc>
                <a:spcPct val="100000"/>
              </a:lnSpc>
              <a:buNone/>
            </a:pPr>
            <a:r>
              <a:rPr lang="en-US" sz="1800" spc="-22" kern="0" dirty="0">
                <a:solidFill>
                  <a:srgbClr val="0E3A4A"/>
                </a:solidFill>
                <a:latin typeface="Fraunces SemiBold" pitchFamily="34" charset="0"/>
                <a:ea typeface="Fraunces SemiBold" pitchFamily="34" charset="-122"/>
                <a:cs typeface="Fraunces SemiBold" pitchFamily="34" charset="-120"/>
              </a:rPr>
              <a:t>ZEGOCLOUD Service</a:t>
            </a:r>
            <a:endParaRPr lang="en-US" sz="1800" dirty="0"/>
          </a:p>
        </p:txBody>
      </p:sp>
      <p:sp>
        <p:nvSpPr>
          <p:cNvPr id="13" name="Text 8"/>
          <p:cNvSpPr/>
          <p:nvPr/>
        </p:nvSpPr>
        <p:spPr>
          <a:xfrm>
            <a:off x="6438739" y="4899025"/>
            <a:ext cx="2114497" cy="959941"/>
          </a:xfrm>
          <a:prstGeom prst="rect">
            <a:avLst/>
          </a:prstGeom>
          <a:noFill/>
          <a:ln/>
        </p:spPr>
        <p:txBody>
          <a:bodyPr wrap="square" lIns="0" tIns="0" rIns="0" bIns="0" rtlCol="0" anchor="t">
            <a:normAutofit/>
          </a:bodyPr>
          <a:lstStyle/>
          <a:p>
            <a:pPr algn="l" indent="0" marL="0">
              <a:lnSpc>
                <a:spcPct val="117000"/>
              </a:lnSpc>
              <a:buNone/>
            </a:pPr>
            <a:r>
              <a:rPr lang="en-US" sz="1800" dirty="0">
                <a:solidFill>
                  <a:srgbClr val="0E3A4A"/>
                </a:solidFill>
                <a:latin typeface="Hanken Grotesk" pitchFamily="34" charset="0"/>
                <a:ea typeface="Hanken Grotesk" pitchFamily="34" charset="-122"/>
                <a:cs typeface="Hanken Grotesk" pitchFamily="34" charset="-120"/>
              </a:rPr>
              <a:t>Truyền và nhận audio/video thời gian thực.</a:t>
            </a:r>
            <a:endParaRPr lang="en-US" sz="1800" dirty="0"/>
          </a:p>
        </p:txBody>
      </p:sp>
      <p:pic>
        <p:nvPicPr>
          <p:cNvPr id="14" name="Image 3" descr="preencoded.png">    </p:cNvPr>
          <p:cNvPicPr>
            <a:picLocks noChangeAspect="1"/>
          </p:cNvPicPr>
          <p:nvPr/>
        </p:nvPicPr>
        <p:blipFill>
          <a:blip r:embed="rId4"/>
          <a:stretch>
            <a:fillRect/>
          </a:stretch>
        </p:blipFill>
        <p:spPr>
          <a:xfrm>
            <a:off x="9010425" y="2956123"/>
            <a:ext cx="2571686" cy="1428750"/>
          </a:xfrm>
          <a:prstGeom prst="rect">
            <a:avLst/>
          </a:prstGeom>
        </p:spPr>
      </p:pic>
      <p:sp>
        <p:nvSpPr>
          <p:cNvPr id="15" name="Text 9"/>
          <p:cNvSpPr/>
          <p:nvPr/>
        </p:nvSpPr>
        <p:spPr>
          <a:xfrm>
            <a:off x="9239019" y="3870523"/>
            <a:ext cx="2114497" cy="274241"/>
          </a:xfrm>
          <a:prstGeom prst="rect">
            <a:avLst/>
          </a:prstGeom>
          <a:noFill/>
          <a:ln/>
        </p:spPr>
        <p:txBody>
          <a:bodyPr wrap="none" lIns="0" tIns="0" rIns="0" bIns="0" rtlCol="0" anchor="t"/>
          <a:lstStyle/>
          <a:p>
            <a:pPr algn="l" indent="0" marL="0">
              <a:lnSpc>
                <a:spcPct val="100000"/>
              </a:lnSpc>
              <a:buNone/>
            </a:pPr>
            <a:r>
              <a:rPr lang="en-US" sz="1800" spc="-22" kern="0" dirty="0">
                <a:solidFill>
                  <a:srgbClr val="0E3A4A"/>
                </a:solidFill>
                <a:latin typeface="Fraunces SemiBold" pitchFamily="34" charset="0"/>
                <a:ea typeface="Fraunces SemiBold" pitchFamily="34" charset="-122"/>
                <a:cs typeface="Fraunces SemiBold" pitchFamily="34" charset="-120"/>
              </a:rPr>
              <a:t>Người dùng B</a:t>
            </a:r>
            <a:endParaRPr lang="en-US" sz="1800" dirty="0"/>
          </a:p>
        </p:txBody>
      </p:sp>
      <p:sp>
        <p:nvSpPr>
          <p:cNvPr id="16" name="Text 10"/>
          <p:cNvSpPr/>
          <p:nvPr/>
        </p:nvSpPr>
        <p:spPr>
          <a:xfrm>
            <a:off x="9239019" y="4281884"/>
            <a:ext cx="2114497" cy="959941"/>
          </a:xfrm>
          <a:prstGeom prst="rect">
            <a:avLst/>
          </a:prstGeom>
          <a:noFill/>
          <a:ln/>
        </p:spPr>
        <p:txBody>
          <a:bodyPr wrap="square" lIns="0" tIns="0" rIns="0" bIns="0" rtlCol="0" anchor="t">
            <a:normAutofit/>
          </a:bodyPr>
          <a:lstStyle/>
          <a:p>
            <a:pPr algn="l" indent="0" marL="0">
              <a:lnSpc>
                <a:spcPct val="117000"/>
              </a:lnSpc>
              <a:buNone/>
            </a:pPr>
            <a:r>
              <a:rPr lang="en-US" sz="1800" dirty="0">
                <a:solidFill>
                  <a:srgbClr val="0E3A4A"/>
                </a:solidFill>
                <a:latin typeface="Hanken Grotesk" pitchFamily="34" charset="0"/>
                <a:ea typeface="Hanken Grotesk" pitchFamily="34" charset="-122"/>
                <a:cs typeface="Hanken Grotesk" pitchFamily="34" charset="-120"/>
              </a:rPr>
              <a:t>SDK đưa luồng media về Flutter App.</a:t>
            </a:r>
            <a:endParaRPr lang="en-US" sz="180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spTree>
      <p:nvGrpSpPr>
        <p:cNvPr id="1" name=""/>
        <p:cNvGrpSpPr/>
        <p:nvPr/>
      </p:nvGrpSpPr>
      <p:grpSpPr>
        <a:xfrm>
          <a:off x="0" y="0"/>
          <a:ext cx="0" cy="0"/>
          <a:chOff x="0" y="0"/>
          <a:chExt cx="0" cy="0"/>
        </a:xfrm>
      </p:grpSpPr>
      <p:sp>
        <p:nvSpPr>
          <p:cNvPr id="2" name="Text 0"/>
          <p:cNvSpPr/>
          <p:nvPr/>
        </p:nvSpPr>
        <p:spPr>
          <a:xfrm>
            <a:off x="609585" y="609600"/>
            <a:ext cx="11582110" cy="182860"/>
          </a:xfrm>
          <a:prstGeom prst="rect">
            <a:avLst/>
          </a:prstGeom>
          <a:noFill/>
          <a:ln/>
        </p:spPr>
        <p:txBody>
          <a:bodyPr wrap="none" lIns="0" tIns="0" rIns="0" bIns="0" rtlCol="0" anchor="t"/>
          <a:lstStyle/>
          <a:p>
            <a:pPr algn="l" indent="0" marL="0">
              <a:lnSpc>
                <a:spcPct val="100000"/>
              </a:lnSpc>
              <a:buNone/>
            </a:pPr>
            <a:r>
              <a:rPr lang="en-US" sz="1200" spc="144" kern="0" dirty="0">
                <a:solidFill>
                  <a:srgbClr val="0E3A4A"/>
                </a:solidFill>
                <a:latin typeface="Hanken Grotesk SemiBold" pitchFamily="34" charset="0"/>
                <a:ea typeface="Hanken Grotesk SemiBold" pitchFamily="34" charset="-122"/>
                <a:cs typeface="Hanken Grotesk SemiBold" pitchFamily="34" charset="-120"/>
              </a:rPr>
              <a:t>05 · ĐỊNH DANH</a:t>
            </a:r>
            <a:endParaRPr lang="en-US" sz="1200" dirty="0"/>
          </a:p>
        </p:txBody>
      </p:sp>
      <p:sp>
        <p:nvSpPr>
          <p:cNvPr id="3" name="Text 1"/>
          <p:cNvSpPr/>
          <p:nvPr/>
        </p:nvSpPr>
        <p:spPr>
          <a:xfrm>
            <a:off x="609585" y="884535"/>
            <a:ext cx="10972526" cy="438845"/>
          </a:xfrm>
          <a:prstGeom prst="rect">
            <a:avLst/>
          </a:prstGeom>
          <a:noFill/>
          <a:ln/>
        </p:spPr>
        <p:txBody>
          <a:bodyPr wrap="none" lIns="0" tIns="0" rIns="0" bIns="0" rtlCol="0" anchor="t"/>
          <a:lstStyle/>
          <a:p>
            <a:pPr algn="l" indent="0" marL="0">
              <a:lnSpc>
                <a:spcPct val="90000"/>
              </a:lnSpc>
              <a:buNone/>
            </a:pPr>
            <a:r>
              <a:rPr lang="en-US" sz="3200" spc="-38" kern="0" dirty="0">
                <a:solidFill>
                  <a:srgbClr val="0E3A4A"/>
                </a:solidFill>
                <a:latin typeface="Fraunces SemiBold" pitchFamily="34" charset="0"/>
                <a:ea typeface="Fraunces SemiBold" pitchFamily="34" charset="-122"/>
                <a:cs typeface="Fraunces SemiBold" pitchFamily="34" charset="-120"/>
              </a:rPr>
              <a:t>Bốn định danh giúp cuộc gọi kết nối đúng người</a:t>
            </a:r>
            <a:endParaRPr lang="en-US" sz="3200" dirty="0"/>
          </a:p>
        </p:txBody>
      </p:sp>
      <p:sp>
        <p:nvSpPr>
          <p:cNvPr id="4" name="Shape 2"/>
          <p:cNvSpPr/>
          <p:nvPr/>
        </p:nvSpPr>
        <p:spPr>
          <a:xfrm>
            <a:off x="609585" y="1551980"/>
            <a:ext cx="5257668" cy="2119610"/>
          </a:xfrm>
          <a:prstGeom prst="roundRect">
            <a:avLst>
              <a:gd name="adj" fmla="val 539"/>
            </a:avLst>
          </a:prstGeom>
          <a:noFill/>
          <a:ln w="25399">
            <a:solidFill>
              <a:srgbClr val="C1D1C7"/>
            </a:solidFill>
            <a:prstDash val="solid"/>
          </a:ln>
        </p:spPr>
      </p:sp>
      <p:sp>
        <p:nvSpPr>
          <p:cNvPr id="5" name="Text 3"/>
          <p:cNvSpPr/>
          <p:nvPr/>
        </p:nvSpPr>
        <p:spPr>
          <a:xfrm>
            <a:off x="863578" y="1805980"/>
            <a:ext cx="5003675" cy="182860"/>
          </a:xfrm>
          <a:prstGeom prst="rect">
            <a:avLst/>
          </a:prstGeom>
          <a:noFill/>
          <a:ln/>
        </p:spPr>
        <p:txBody>
          <a:bodyPr wrap="none" lIns="0" tIns="0" rIns="0" bIns="0" rtlCol="0" anchor="t"/>
          <a:lstStyle/>
          <a:p>
            <a:pPr algn="l" indent="0" marL="0">
              <a:lnSpc>
                <a:spcPct val="100000"/>
              </a:lnSpc>
              <a:buNone/>
            </a:pPr>
            <a:r>
              <a:rPr lang="en-US" sz="1200" spc="144" kern="0" dirty="0">
                <a:solidFill>
                  <a:srgbClr val="0E3A4A"/>
                </a:solidFill>
                <a:latin typeface="Hanken Grotesk SemiBold" pitchFamily="34" charset="0"/>
                <a:ea typeface="Hanken Grotesk SemiBold" pitchFamily="34" charset="-122"/>
                <a:cs typeface="Hanken Grotesk SemiBold" pitchFamily="34" charset="-120"/>
              </a:rPr>
              <a:t>01</a:t>
            </a:r>
            <a:endParaRPr lang="en-US" sz="1200" dirty="0"/>
          </a:p>
        </p:txBody>
      </p:sp>
      <p:sp>
        <p:nvSpPr>
          <p:cNvPr id="6" name="Text 4"/>
          <p:cNvSpPr/>
          <p:nvPr/>
        </p:nvSpPr>
        <p:spPr>
          <a:xfrm>
            <a:off x="863578" y="2080915"/>
            <a:ext cx="4749681" cy="319980"/>
          </a:xfrm>
          <a:prstGeom prst="rect">
            <a:avLst/>
          </a:prstGeom>
          <a:noFill/>
          <a:ln/>
        </p:spPr>
        <p:txBody>
          <a:bodyPr wrap="none" lIns="0" tIns="0" rIns="0" bIns="0" rtlCol="0" anchor="t"/>
          <a:lstStyle/>
          <a:p>
            <a:pPr algn="l" indent="0" marL="0">
              <a:lnSpc>
                <a:spcPct val="100000"/>
              </a:lnSpc>
              <a:buNone/>
            </a:pPr>
            <a:r>
              <a:rPr lang="en-US" sz="2100" dirty="0">
                <a:solidFill>
                  <a:srgbClr val="0E3A4A"/>
                </a:solidFill>
                <a:latin typeface="Hanken Grotesk SemiBold" pitchFamily="34" charset="0"/>
                <a:ea typeface="Hanken Grotesk SemiBold" pitchFamily="34" charset="-122"/>
                <a:cs typeface="Hanken Grotesk SemiBold" pitchFamily="34" charset="-120"/>
              </a:rPr>
              <a:t>AppID</a:t>
            </a:r>
            <a:endParaRPr lang="en-US" sz="2100" dirty="0"/>
          </a:p>
        </p:txBody>
      </p:sp>
      <p:sp>
        <p:nvSpPr>
          <p:cNvPr id="7" name="Text 5"/>
          <p:cNvSpPr/>
          <p:nvPr/>
        </p:nvSpPr>
        <p:spPr>
          <a:xfrm>
            <a:off x="863578" y="2565995"/>
            <a:ext cx="5003675" cy="319980"/>
          </a:xfrm>
          <a:prstGeom prst="rect">
            <a:avLst/>
          </a:prstGeom>
          <a:noFill/>
          <a:ln/>
        </p:spPr>
        <p:txBody>
          <a:bodyPr wrap="none" lIns="0" tIns="0" rIns="0" bIns="0" rtlCol="0" anchor="t"/>
          <a:lstStyle/>
          <a:p>
            <a:pPr algn="l" indent="0" marL="0">
              <a:lnSpc>
                <a:spcPct val="117000"/>
              </a:lnSpc>
              <a:buNone/>
            </a:pPr>
            <a:r>
              <a:rPr lang="en-US" sz="1800" dirty="0">
                <a:solidFill>
                  <a:srgbClr val="0E3A4A"/>
                </a:solidFill>
                <a:latin typeface="Hanken Grotesk" pitchFamily="34" charset="0"/>
                <a:ea typeface="Hanken Grotesk" pitchFamily="34" charset="-122"/>
                <a:cs typeface="Hanken Grotesk" pitchFamily="34" charset="-120"/>
              </a:rPr>
              <a:t>Xác định project trên ZEGOCLOUD.</a:t>
            </a:r>
            <a:endParaRPr lang="en-US" sz="1800" dirty="0"/>
          </a:p>
        </p:txBody>
      </p:sp>
      <p:sp>
        <p:nvSpPr>
          <p:cNvPr id="8" name="Shape 6"/>
          <p:cNvSpPr/>
          <p:nvPr/>
        </p:nvSpPr>
        <p:spPr>
          <a:xfrm>
            <a:off x="6324442" y="1551980"/>
            <a:ext cx="5257668" cy="2119610"/>
          </a:xfrm>
          <a:prstGeom prst="roundRect">
            <a:avLst>
              <a:gd name="adj" fmla="val 539"/>
            </a:avLst>
          </a:prstGeom>
          <a:noFill/>
          <a:ln w="25399">
            <a:solidFill>
              <a:srgbClr val="C1D1C7"/>
            </a:solidFill>
            <a:prstDash val="solid"/>
          </a:ln>
        </p:spPr>
      </p:sp>
      <p:sp>
        <p:nvSpPr>
          <p:cNvPr id="9" name="Text 7"/>
          <p:cNvSpPr/>
          <p:nvPr/>
        </p:nvSpPr>
        <p:spPr>
          <a:xfrm>
            <a:off x="6578435" y="1805980"/>
            <a:ext cx="5003675" cy="182860"/>
          </a:xfrm>
          <a:prstGeom prst="rect">
            <a:avLst/>
          </a:prstGeom>
          <a:noFill/>
          <a:ln/>
        </p:spPr>
        <p:txBody>
          <a:bodyPr wrap="none" lIns="0" tIns="0" rIns="0" bIns="0" rtlCol="0" anchor="t"/>
          <a:lstStyle/>
          <a:p>
            <a:pPr algn="l" indent="0" marL="0">
              <a:lnSpc>
                <a:spcPct val="100000"/>
              </a:lnSpc>
              <a:buNone/>
            </a:pPr>
            <a:r>
              <a:rPr lang="en-US" sz="1200" spc="144" kern="0" dirty="0">
                <a:solidFill>
                  <a:srgbClr val="0E3A4A"/>
                </a:solidFill>
                <a:latin typeface="Hanken Grotesk SemiBold" pitchFamily="34" charset="0"/>
                <a:ea typeface="Hanken Grotesk SemiBold" pitchFamily="34" charset="-122"/>
                <a:cs typeface="Hanken Grotesk SemiBold" pitchFamily="34" charset="-120"/>
              </a:rPr>
              <a:t>02</a:t>
            </a:r>
            <a:endParaRPr lang="en-US" sz="1200" dirty="0"/>
          </a:p>
        </p:txBody>
      </p:sp>
      <p:sp>
        <p:nvSpPr>
          <p:cNvPr id="10" name="Text 8"/>
          <p:cNvSpPr/>
          <p:nvPr/>
        </p:nvSpPr>
        <p:spPr>
          <a:xfrm>
            <a:off x="6578435" y="2080915"/>
            <a:ext cx="4749681" cy="319980"/>
          </a:xfrm>
          <a:prstGeom prst="rect">
            <a:avLst/>
          </a:prstGeom>
          <a:noFill/>
          <a:ln/>
        </p:spPr>
        <p:txBody>
          <a:bodyPr wrap="none" lIns="0" tIns="0" rIns="0" bIns="0" rtlCol="0" anchor="t"/>
          <a:lstStyle/>
          <a:p>
            <a:pPr algn="l" indent="0" marL="0">
              <a:lnSpc>
                <a:spcPct val="100000"/>
              </a:lnSpc>
              <a:buNone/>
            </a:pPr>
            <a:r>
              <a:rPr lang="en-US" sz="2100" dirty="0">
                <a:solidFill>
                  <a:srgbClr val="0E3A4A"/>
                </a:solidFill>
                <a:latin typeface="Hanken Grotesk SemiBold" pitchFamily="34" charset="0"/>
                <a:ea typeface="Hanken Grotesk SemiBold" pitchFamily="34" charset="-122"/>
                <a:cs typeface="Hanken Grotesk SemiBold" pitchFamily="34" charset="-120"/>
              </a:rPr>
              <a:t>AppSign hoặc Token</a:t>
            </a:r>
            <a:endParaRPr lang="en-US" sz="2100" dirty="0"/>
          </a:p>
        </p:txBody>
      </p:sp>
      <p:sp>
        <p:nvSpPr>
          <p:cNvPr id="11" name="Text 9"/>
          <p:cNvSpPr/>
          <p:nvPr/>
        </p:nvSpPr>
        <p:spPr>
          <a:xfrm>
            <a:off x="6578435" y="2565995"/>
            <a:ext cx="4749681" cy="639961"/>
          </a:xfrm>
          <a:prstGeom prst="rect">
            <a:avLst/>
          </a:prstGeom>
          <a:noFill/>
          <a:ln/>
        </p:spPr>
        <p:txBody>
          <a:bodyPr wrap="square" lIns="0" tIns="0" rIns="0" bIns="0" rtlCol="0" anchor="t">
            <a:normAutofit/>
          </a:bodyPr>
          <a:lstStyle/>
          <a:p>
            <a:pPr algn="l" indent="0" marL="0">
              <a:lnSpc>
                <a:spcPct val="117000"/>
              </a:lnSpc>
              <a:buNone/>
            </a:pPr>
            <a:r>
              <a:rPr lang="en-US" sz="1800" dirty="0">
                <a:solidFill>
                  <a:srgbClr val="0E3A4A"/>
                </a:solidFill>
                <a:latin typeface="Hanken Grotesk" pitchFamily="34" charset="0"/>
                <a:ea typeface="Hanken Grotesk" pitchFamily="34" charset="-122"/>
                <a:cs typeface="Hanken Grotesk" pitchFamily="34" charset="-120"/>
              </a:rPr>
              <a:t>Xác thực kết nối. Triển khai thực tế cần bảo vệ thông tin nhạy cảm.</a:t>
            </a:r>
            <a:endParaRPr lang="en-US" sz="1800" dirty="0"/>
          </a:p>
        </p:txBody>
      </p:sp>
      <p:sp>
        <p:nvSpPr>
          <p:cNvPr id="12" name="Shape 10"/>
          <p:cNvSpPr/>
          <p:nvPr/>
        </p:nvSpPr>
        <p:spPr>
          <a:xfrm>
            <a:off x="609585" y="4128790"/>
            <a:ext cx="5257668" cy="2119610"/>
          </a:xfrm>
          <a:prstGeom prst="roundRect">
            <a:avLst>
              <a:gd name="adj" fmla="val 539"/>
            </a:avLst>
          </a:prstGeom>
          <a:noFill/>
          <a:ln w="25399">
            <a:solidFill>
              <a:srgbClr val="C1D1C7"/>
            </a:solidFill>
            <a:prstDash val="solid"/>
          </a:ln>
        </p:spPr>
      </p:sp>
      <p:sp>
        <p:nvSpPr>
          <p:cNvPr id="13" name="Text 11"/>
          <p:cNvSpPr/>
          <p:nvPr/>
        </p:nvSpPr>
        <p:spPr>
          <a:xfrm>
            <a:off x="863578" y="4382790"/>
            <a:ext cx="5003675" cy="182860"/>
          </a:xfrm>
          <a:prstGeom prst="rect">
            <a:avLst/>
          </a:prstGeom>
          <a:noFill/>
          <a:ln/>
        </p:spPr>
        <p:txBody>
          <a:bodyPr wrap="none" lIns="0" tIns="0" rIns="0" bIns="0" rtlCol="0" anchor="t"/>
          <a:lstStyle/>
          <a:p>
            <a:pPr algn="l" indent="0" marL="0">
              <a:lnSpc>
                <a:spcPct val="100000"/>
              </a:lnSpc>
              <a:buNone/>
            </a:pPr>
            <a:r>
              <a:rPr lang="en-US" sz="1200" spc="144" kern="0" dirty="0">
                <a:solidFill>
                  <a:srgbClr val="0E3A4A"/>
                </a:solidFill>
                <a:latin typeface="Hanken Grotesk SemiBold" pitchFamily="34" charset="0"/>
                <a:ea typeface="Hanken Grotesk SemiBold" pitchFamily="34" charset="-122"/>
                <a:cs typeface="Hanken Grotesk SemiBold" pitchFamily="34" charset="-120"/>
              </a:rPr>
              <a:t>03</a:t>
            </a:r>
            <a:endParaRPr lang="en-US" sz="1200" dirty="0"/>
          </a:p>
        </p:txBody>
      </p:sp>
      <p:sp>
        <p:nvSpPr>
          <p:cNvPr id="14" name="Text 12"/>
          <p:cNvSpPr/>
          <p:nvPr/>
        </p:nvSpPr>
        <p:spPr>
          <a:xfrm>
            <a:off x="863578" y="4657725"/>
            <a:ext cx="4749681" cy="319980"/>
          </a:xfrm>
          <a:prstGeom prst="rect">
            <a:avLst/>
          </a:prstGeom>
          <a:noFill/>
          <a:ln/>
        </p:spPr>
        <p:txBody>
          <a:bodyPr wrap="none" lIns="0" tIns="0" rIns="0" bIns="0" rtlCol="0" anchor="t"/>
          <a:lstStyle/>
          <a:p>
            <a:pPr algn="l" indent="0" marL="0">
              <a:lnSpc>
                <a:spcPct val="100000"/>
              </a:lnSpc>
              <a:buNone/>
            </a:pPr>
            <a:r>
              <a:rPr lang="en-US" sz="2100" dirty="0">
                <a:solidFill>
                  <a:srgbClr val="0E3A4A"/>
                </a:solidFill>
                <a:latin typeface="Hanken Grotesk SemiBold" pitchFamily="34" charset="0"/>
                <a:ea typeface="Hanken Grotesk SemiBold" pitchFamily="34" charset="-122"/>
                <a:cs typeface="Hanken Grotesk SemiBold" pitchFamily="34" charset="-120"/>
              </a:rPr>
              <a:t>User ID</a:t>
            </a:r>
            <a:endParaRPr lang="en-US" sz="2100" dirty="0"/>
          </a:p>
        </p:txBody>
      </p:sp>
      <p:sp>
        <p:nvSpPr>
          <p:cNvPr id="15" name="Text 13"/>
          <p:cNvSpPr/>
          <p:nvPr/>
        </p:nvSpPr>
        <p:spPr>
          <a:xfrm>
            <a:off x="863578" y="5142805"/>
            <a:ext cx="4749681" cy="639961"/>
          </a:xfrm>
          <a:prstGeom prst="rect">
            <a:avLst/>
          </a:prstGeom>
          <a:noFill/>
          <a:ln/>
        </p:spPr>
        <p:txBody>
          <a:bodyPr wrap="square" lIns="0" tIns="0" rIns="0" bIns="0" rtlCol="0" anchor="t">
            <a:normAutofit/>
          </a:bodyPr>
          <a:lstStyle/>
          <a:p>
            <a:pPr algn="l" indent="0" marL="0">
              <a:lnSpc>
                <a:spcPct val="117000"/>
              </a:lnSpc>
              <a:buNone/>
            </a:pPr>
            <a:r>
              <a:rPr lang="en-US" sz="1800" dirty="0">
                <a:solidFill>
                  <a:srgbClr val="0E3A4A"/>
                </a:solidFill>
                <a:latin typeface="Hanken Grotesk" pitchFamily="34" charset="0"/>
                <a:ea typeface="Hanken Grotesk" pitchFamily="34" charset="-122"/>
                <a:cs typeface="Hanken Grotesk" pitchFamily="34" charset="-120"/>
              </a:rPr>
              <a:t>Định danh riêng cho từng người dùng, ví dụ </a:t>
            </a:r>
            <a:pPr algn="l" indent="0" marL="0">
              <a:lnSpc>
                <a:spcPct val="117000"/>
              </a:lnSpc>
              <a:buNone/>
            </a:pPr>
            <a:r>
              <a:rPr lang="en-US" sz="1800" b="1" dirty="0">
                <a:solidFill>
                  <a:srgbClr val="0E3A4A"/>
                </a:solidFill>
                <a:latin typeface="Hanken Grotesk Bold" pitchFamily="34" charset="0"/>
                <a:ea typeface="Hanken Grotesk Bold" pitchFamily="34" charset="-122"/>
                <a:cs typeface="Hanken Grotesk Bold" pitchFamily="34" charset="-120"/>
              </a:rPr>
              <a:t>tri001</a:t>
            </a:r>
            <a:pPr algn="l" indent="0" marL="0">
              <a:lnSpc>
                <a:spcPct val="117000"/>
              </a:lnSpc>
              <a:buNone/>
            </a:pPr>
            <a:r>
              <a:rPr lang="en-US" sz="1800" dirty="0">
                <a:solidFill>
                  <a:srgbClr val="0E3A4A"/>
                </a:solidFill>
                <a:latin typeface="Hanken Grotesk" pitchFamily="34" charset="0"/>
                <a:ea typeface="Hanken Grotesk" pitchFamily="34" charset="-122"/>
                <a:cs typeface="Hanken Grotesk" pitchFamily="34" charset="-120"/>
              </a:rPr>
              <a:t> và </a:t>
            </a:r>
            <a:pPr algn="l" indent="0" marL="0">
              <a:lnSpc>
                <a:spcPct val="117000"/>
              </a:lnSpc>
              <a:buNone/>
            </a:pPr>
            <a:r>
              <a:rPr lang="en-US" sz="1800" b="1" dirty="0">
                <a:solidFill>
                  <a:srgbClr val="0E3A4A"/>
                </a:solidFill>
                <a:latin typeface="Hanken Grotesk Bold" pitchFamily="34" charset="0"/>
                <a:ea typeface="Hanken Grotesk Bold" pitchFamily="34" charset="-122"/>
                <a:cs typeface="Hanken Grotesk Bold" pitchFamily="34" charset="-120"/>
              </a:rPr>
              <a:t>minh002</a:t>
            </a:r>
            <a:pPr algn="l" indent="0" marL="0">
              <a:lnSpc>
                <a:spcPct val="117000"/>
              </a:lnSpc>
              <a:buNone/>
            </a:pPr>
            <a:r>
              <a:rPr lang="en-US" sz="1800" dirty="0">
                <a:solidFill>
                  <a:srgbClr val="0E3A4A"/>
                </a:solidFill>
                <a:latin typeface="Hanken Grotesk" pitchFamily="34" charset="0"/>
                <a:ea typeface="Hanken Grotesk" pitchFamily="34" charset="-122"/>
                <a:cs typeface="Hanken Grotesk" pitchFamily="34" charset="-120"/>
              </a:rPr>
              <a:t>.</a:t>
            </a:r>
            <a:endParaRPr lang="en-US" sz="1800" dirty="0"/>
          </a:p>
        </p:txBody>
      </p:sp>
      <p:sp>
        <p:nvSpPr>
          <p:cNvPr id="16" name="Shape 14"/>
          <p:cNvSpPr/>
          <p:nvPr/>
        </p:nvSpPr>
        <p:spPr>
          <a:xfrm>
            <a:off x="6324442" y="4128790"/>
            <a:ext cx="5257668" cy="2119610"/>
          </a:xfrm>
          <a:prstGeom prst="roundRect">
            <a:avLst>
              <a:gd name="adj" fmla="val 539"/>
            </a:avLst>
          </a:prstGeom>
          <a:noFill/>
          <a:ln w="25399">
            <a:solidFill>
              <a:srgbClr val="C1D1C7"/>
            </a:solidFill>
            <a:prstDash val="solid"/>
          </a:ln>
        </p:spPr>
      </p:sp>
      <p:sp>
        <p:nvSpPr>
          <p:cNvPr id="17" name="Text 15"/>
          <p:cNvSpPr/>
          <p:nvPr/>
        </p:nvSpPr>
        <p:spPr>
          <a:xfrm>
            <a:off x="6578435" y="4382790"/>
            <a:ext cx="5003675" cy="182860"/>
          </a:xfrm>
          <a:prstGeom prst="rect">
            <a:avLst/>
          </a:prstGeom>
          <a:noFill/>
          <a:ln/>
        </p:spPr>
        <p:txBody>
          <a:bodyPr wrap="none" lIns="0" tIns="0" rIns="0" bIns="0" rtlCol="0" anchor="t"/>
          <a:lstStyle/>
          <a:p>
            <a:pPr algn="l" indent="0" marL="0">
              <a:lnSpc>
                <a:spcPct val="100000"/>
              </a:lnSpc>
              <a:buNone/>
            </a:pPr>
            <a:r>
              <a:rPr lang="en-US" sz="1200" spc="144" kern="0" dirty="0">
                <a:solidFill>
                  <a:srgbClr val="0E3A4A"/>
                </a:solidFill>
                <a:latin typeface="Hanken Grotesk SemiBold" pitchFamily="34" charset="0"/>
                <a:ea typeface="Hanken Grotesk SemiBold" pitchFamily="34" charset="-122"/>
                <a:cs typeface="Hanken Grotesk SemiBold" pitchFamily="34" charset="-120"/>
              </a:rPr>
              <a:t>04</a:t>
            </a:r>
            <a:endParaRPr lang="en-US" sz="1200" dirty="0"/>
          </a:p>
        </p:txBody>
      </p:sp>
      <p:sp>
        <p:nvSpPr>
          <p:cNvPr id="18" name="Text 16"/>
          <p:cNvSpPr/>
          <p:nvPr/>
        </p:nvSpPr>
        <p:spPr>
          <a:xfrm>
            <a:off x="6578435" y="4657725"/>
            <a:ext cx="4749681" cy="319980"/>
          </a:xfrm>
          <a:prstGeom prst="rect">
            <a:avLst/>
          </a:prstGeom>
          <a:noFill/>
          <a:ln/>
        </p:spPr>
        <p:txBody>
          <a:bodyPr wrap="none" lIns="0" tIns="0" rIns="0" bIns="0" rtlCol="0" anchor="t"/>
          <a:lstStyle/>
          <a:p>
            <a:pPr algn="l" indent="0" marL="0">
              <a:lnSpc>
                <a:spcPct val="100000"/>
              </a:lnSpc>
              <a:buNone/>
            </a:pPr>
            <a:r>
              <a:rPr lang="en-US" sz="2100" dirty="0">
                <a:solidFill>
                  <a:srgbClr val="0E3A4A"/>
                </a:solidFill>
                <a:latin typeface="Hanken Grotesk SemiBold" pitchFamily="34" charset="0"/>
                <a:ea typeface="Hanken Grotesk SemiBold" pitchFamily="34" charset="-122"/>
                <a:cs typeface="Hanken Grotesk SemiBold" pitchFamily="34" charset="-120"/>
              </a:rPr>
              <a:t>Room ID / Call ID</a:t>
            </a:r>
            <a:endParaRPr lang="en-US" sz="2100" dirty="0"/>
          </a:p>
        </p:txBody>
      </p:sp>
      <p:sp>
        <p:nvSpPr>
          <p:cNvPr id="19" name="Text 17"/>
          <p:cNvSpPr/>
          <p:nvPr/>
        </p:nvSpPr>
        <p:spPr>
          <a:xfrm>
            <a:off x="6578435" y="5142805"/>
            <a:ext cx="4749681" cy="639961"/>
          </a:xfrm>
          <a:prstGeom prst="rect">
            <a:avLst/>
          </a:prstGeom>
          <a:noFill/>
          <a:ln/>
        </p:spPr>
        <p:txBody>
          <a:bodyPr wrap="square" lIns="0" tIns="0" rIns="0" bIns="0" rtlCol="0" anchor="t">
            <a:normAutofit/>
          </a:bodyPr>
          <a:lstStyle/>
          <a:p>
            <a:pPr algn="l" indent="0" marL="0">
              <a:lnSpc>
                <a:spcPct val="117000"/>
              </a:lnSpc>
              <a:buNone/>
            </a:pPr>
            <a:r>
              <a:rPr lang="en-US" sz="1800" dirty="0">
                <a:solidFill>
                  <a:srgbClr val="0E3A4A"/>
                </a:solidFill>
                <a:latin typeface="Hanken Grotesk" pitchFamily="34" charset="0"/>
                <a:ea typeface="Hanken Grotesk" pitchFamily="34" charset="-122"/>
                <a:cs typeface="Hanken Grotesk" pitchFamily="34" charset="-120"/>
              </a:rPr>
              <a:t>Định danh cuộc gọi, ví dụ </a:t>
            </a:r>
            <a:pPr algn="l" indent="0" marL="0">
              <a:lnSpc>
                <a:spcPct val="117000"/>
              </a:lnSpc>
              <a:buNone/>
            </a:pPr>
            <a:r>
              <a:rPr lang="en-US" sz="1800" b="1" dirty="0">
                <a:solidFill>
                  <a:srgbClr val="0E3A4A"/>
                </a:solidFill>
                <a:latin typeface="Hanken Grotesk Bold" pitchFamily="34" charset="0"/>
                <a:ea typeface="Hanken Grotesk Bold" pitchFamily="34" charset="-122"/>
                <a:cs typeface="Hanken Grotesk Bold" pitchFamily="34" charset="-120"/>
              </a:rPr>
              <a:t>room_001</a:t>
            </a:r>
            <a:pPr algn="l" indent="0" marL="0">
              <a:lnSpc>
                <a:spcPct val="117000"/>
              </a:lnSpc>
              <a:buNone/>
            </a:pPr>
            <a:r>
              <a:rPr lang="en-US" sz="1800" dirty="0">
                <a:solidFill>
                  <a:srgbClr val="0E3A4A"/>
                </a:solidFill>
                <a:latin typeface="Hanken Grotesk" pitchFamily="34" charset="0"/>
                <a:ea typeface="Hanken Grotesk" pitchFamily="34" charset="-122"/>
                <a:cs typeface="Hanken Grotesk" pitchFamily="34" charset="-120"/>
              </a:rPr>
              <a:t> hoặc </a:t>
            </a:r>
            <a:pPr algn="l" indent="0" marL="0">
              <a:lnSpc>
                <a:spcPct val="117000"/>
              </a:lnSpc>
              <a:buNone/>
            </a:pPr>
            <a:r>
              <a:rPr lang="en-US" sz="1800" b="1" dirty="0">
                <a:solidFill>
                  <a:srgbClr val="0E3A4A"/>
                </a:solidFill>
                <a:latin typeface="Hanken Grotesk Bold" pitchFamily="34" charset="0"/>
                <a:ea typeface="Hanken Grotesk Bold" pitchFamily="34" charset="-122"/>
                <a:cs typeface="Hanken Grotesk Bold" pitchFamily="34" charset="-120"/>
              </a:rPr>
              <a:t>call_001</a:t>
            </a:r>
            <a:pPr algn="l" indent="0" marL="0">
              <a:lnSpc>
                <a:spcPct val="117000"/>
              </a:lnSpc>
              <a:buNone/>
            </a:pPr>
            <a:r>
              <a:rPr lang="en-US" sz="1800" dirty="0">
                <a:solidFill>
                  <a:srgbClr val="0E3A4A"/>
                </a:solidFill>
                <a:latin typeface="Hanken Grotesk" pitchFamily="34" charset="0"/>
                <a:ea typeface="Hanken Grotesk" pitchFamily="34" charset="-122"/>
                <a:cs typeface="Hanken Grotesk" pitchFamily="34" charset="-120"/>
              </a:rPr>
              <a:t>.</a:t>
            </a:r>
            <a:endParaRPr lang="en-US" sz="180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spTree>
      <p:nvGrpSpPr>
        <p:cNvPr id="1" name=""/>
        <p:cNvGrpSpPr/>
        <p:nvPr/>
      </p:nvGrpSpPr>
      <p:grpSpPr>
        <a:xfrm>
          <a:off x="0" y="0"/>
          <a:ext cx="0" cy="0"/>
          <a:chOff x="0" y="0"/>
          <a:chExt cx="0" cy="0"/>
        </a:xfrm>
      </p:grpSpPr>
      <p:sp>
        <p:nvSpPr>
          <p:cNvPr id="2" name="Text 0"/>
          <p:cNvSpPr/>
          <p:nvPr/>
        </p:nvSpPr>
        <p:spPr>
          <a:xfrm>
            <a:off x="609585" y="609600"/>
            <a:ext cx="11582110" cy="182860"/>
          </a:xfrm>
          <a:prstGeom prst="rect">
            <a:avLst/>
          </a:prstGeom>
          <a:noFill/>
          <a:ln/>
        </p:spPr>
        <p:txBody>
          <a:bodyPr wrap="none" lIns="0" tIns="0" rIns="0" bIns="0" rtlCol="0" anchor="t"/>
          <a:lstStyle/>
          <a:p>
            <a:pPr algn="l" indent="0" marL="0">
              <a:lnSpc>
                <a:spcPct val="100000"/>
              </a:lnSpc>
              <a:buNone/>
            </a:pPr>
            <a:r>
              <a:rPr lang="en-US" sz="1200" spc="144" kern="0" dirty="0">
                <a:solidFill>
                  <a:srgbClr val="0E3A4A"/>
                </a:solidFill>
                <a:latin typeface="Hanken Grotesk SemiBold" pitchFamily="34" charset="0"/>
                <a:ea typeface="Hanken Grotesk SemiBold" pitchFamily="34" charset="-122"/>
                <a:cs typeface="Hanken Grotesk SemiBold" pitchFamily="34" charset="-120"/>
              </a:rPr>
              <a:t>06 · LUỒNG CUỘC GỌI</a:t>
            </a:r>
            <a:endParaRPr lang="en-US" sz="1200" dirty="0"/>
          </a:p>
        </p:txBody>
      </p:sp>
      <p:sp>
        <p:nvSpPr>
          <p:cNvPr id="3" name="Text 1"/>
          <p:cNvSpPr/>
          <p:nvPr/>
        </p:nvSpPr>
        <p:spPr>
          <a:xfrm>
            <a:off x="609585" y="884535"/>
            <a:ext cx="10972526" cy="658316"/>
          </a:xfrm>
          <a:prstGeom prst="rect">
            <a:avLst/>
          </a:prstGeom>
          <a:noFill/>
          <a:ln/>
        </p:spPr>
        <p:txBody>
          <a:bodyPr wrap="none" lIns="0" tIns="0" rIns="0" bIns="0" rtlCol="0" anchor="t"/>
          <a:lstStyle/>
          <a:p>
            <a:pPr algn="l" indent="0" marL="0">
              <a:lnSpc>
                <a:spcPct val="90000"/>
              </a:lnSpc>
              <a:buNone/>
            </a:pPr>
            <a:r>
              <a:rPr lang="en-US" sz="4800" spc="-58" kern="0" dirty="0">
                <a:solidFill>
                  <a:srgbClr val="0E3A4A"/>
                </a:solidFill>
                <a:latin typeface="Fraunces SemiBold" pitchFamily="34" charset="0"/>
                <a:ea typeface="Fraunces SemiBold" pitchFamily="34" charset="-122"/>
                <a:cs typeface="Fraunces SemiBold" pitchFamily="34" charset="-120"/>
              </a:rPr>
              <a:t>Một cuộc gọi đi qua bảy bước rõ ràng</a:t>
            </a:r>
            <a:endParaRPr lang="en-US" sz="4800" dirty="0"/>
          </a:p>
        </p:txBody>
      </p:sp>
      <p:sp>
        <p:nvSpPr>
          <p:cNvPr id="4" name="Text 2"/>
          <p:cNvSpPr/>
          <p:nvPr/>
        </p:nvSpPr>
        <p:spPr>
          <a:xfrm>
            <a:off x="609585" y="1784152"/>
            <a:ext cx="861693" cy="228600"/>
          </a:xfrm>
          <a:prstGeom prst="rect">
            <a:avLst/>
          </a:prstGeom>
          <a:noFill/>
          <a:ln/>
        </p:spPr>
        <p:txBody>
          <a:bodyPr wrap="none" lIns="0" tIns="0" rIns="0" bIns="0" rtlCol="0" anchor="t"/>
          <a:lstStyle/>
          <a:p>
            <a:pPr algn="l" indent="0" marL="0">
              <a:lnSpc>
                <a:spcPct val="83000"/>
              </a:lnSpc>
              <a:buNone/>
            </a:pPr>
            <a:r>
              <a:rPr lang="en-US" sz="1800" i="1" dirty="0">
                <a:solidFill>
                  <a:srgbClr val="0E3A4A"/>
                </a:solidFill>
                <a:latin typeface="Fraunces SemiBold" pitchFamily="34" charset="0"/>
                <a:ea typeface="Fraunces SemiBold" pitchFamily="34" charset="-122"/>
                <a:cs typeface="Fraunces SemiBold" pitchFamily="34" charset="-120"/>
              </a:rPr>
              <a:t>01</a:t>
            </a:r>
            <a:endParaRPr lang="en-US" sz="1800" dirty="0"/>
          </a:p>
        </p:txBody>
      </p:sp>
      <p:sp>
        <p:nvSpPr>
          <p:cNvPr id="5" name="Text 3"/>
          <p:cNvSpPr/>
          <p:nvPr/>
        </p:nvSpPr>
        <p:spPr>
          <a:xfrm>
            <a:off x="1014089" y="1771452"/>
            <a:ext cx="10568021" cy="284460"/>
          </a:xfrm>
          <a:prstGeom prst="rect">
            <a:avLst/>
          </a:prstGeom>
          <a:noFill/>
          <a:ln/>
        </p:spPr>
        <p:txBody>
          <a:bodyPr wrap="none" lIns="0" tIns="0" rIns="0" bIns="0" rtlCol="0" anchor="t"/>
          <a:lstStyle/>
          <a:p>
            <a:pPr algn="l" indent="0" marL="0">
              <a:lnSpc>
                <a:spcPct val="117000"/>
              </a:lnSpc>
              <a:buNone/>
            </a:pPr>
            <a:r>
              <a:rPr lang="en-US" sz="1600" b="1" dirty="0">
                <a:solidFill>
                  <a:srgbClr val="0E3A4A"/>
                </a:solidFill>
                <a:latin typeface="Hanken Grotesk Bold" pitchFamily="34" charset="0"/>
                <a:ea typeface="Hanken Grotesk Bold" pitchFamily="34" charset="-122"/>
                <a:cs typeface="Hanken Grotesk Bold" pitchFamily="34" charset="-120"/>
              </a:rPr>
              <a:t>Đăng nhập</a:t>
            </a:r>
            <a:pPr algn="l" indent="0" marL="0">
              <a:lnSpc>
                <a:spcPct val="117000"/>
              </a:lnSpc>
              <a:buNone/>
            </a:pPr>
            <a:r>
              <a:rPr lang="en-US" sz="1600" dirty="0">
                <a:solidFill>
                  <a:srgbClr val="0E3A4A"/>
                </a:solidFill>
                <a:latin typeface="Hanken Grotesk" pitchFamily="34" charset="0"/>
                <a:ea typeface="Hanken Grotesk" pitchFamily="34" charset="-122"/>
                <a:cs typeface="Hanken Grotesk" pitchFamily="34" charset="-120"/>
              </a:rPr>
              <a:t> vào VCall.</a:t>
            </a:r>
            <a:endParaRPr lang="en-US" sz="1600" dirty="0"/>
          </a:p>
        </p:txBody>
      </p:sp>
      <p:sp>
        <p:nvSpPr>
          <p:cNvPr id="6" name="Text 4"/>
          <p:cNvSpPr/>
          <p:nvPr/>
        </p:nvSpPr>
        <p:spPr>
          <a:xfrm>
            <a:off x="609585" y="2525812"/>
            <a:ext cx="895625" cy="228600"/>
          </a:xfrm>
          <a:prstGeom prst="rect">
            <a:avLst/>
          </a:prstGeom>
          <a:noFill/>
          <a:ln/>
        </p:spPr>
        <p:txBody>
          <a:bodyPr wrap="none" lIns="0" tIns="0" rIns="0" bIns="0" rtlCol="0" anchor="t"/>
          <a:lstStyle/>
          <a:p>
            <a:pPr algn="l" indent="0" marL="0">
              <a:lnSpc>
                <a:spcPct val="83000"/>
              </a:lnSpc>
              <a:buNone/>
            </a:pPr>
            <a:r>
              <a:rPr lang="en-US" sz="1800" i="1" dirty="0">
                <a:solidFill>
                  <a:srgbClr val="0E3A4A"/>
                </a:solidFill>
                <a:latin typeface="Fraunces SemiBold" pitchFamily="34" charset="0"/>
                <a:ea typeface="Fraunces SemiBold" pitchFamily="34" charset="-122"/>
                <a:cs typeface="Fraunces SemiBold" pitchFamily="34" charset="-120"/>
              </a:rPr>
              <a:t>02</a:t>
            </a:r>
            <a:endParaRPr lang="en-US" sz="1800" dirty="0"/>
          </a:p>
        </p:txBody>
      </p:sp>
      <p:sp>
        <p:nvSpPr>
          <p:cNvPr id="7" name="Text 5"/>
          <p:cNvSpPr/>
          <p:nvPr/>
        </p:nvSpPr>
        <p:spPr>
          <a:xfrm>
            <a:off x="1048021" y="2513112"/>
            <a:ext cx="10534089" cy="284460"/>
          </a:xfrm>
          <a:prstGeom prst="rect">
            <a:avLst/>
          </a:prstGeom>
          <a:noFill/>
          <a:ln/>
        </p:spPr>
        <p:txBody>
          <a:bodyPr wrap="none" lIns="0" tIns="0" rIns="0" bIns="0" rtlCol="0" anchor="t"/>
          <a:lstStyle/>
          <a:p>
            <a:pPr algn="l" indent="0" marL="0">
              <a:lnSpc>
                <a:spcPct val="117000"/>
              </a:lnSpc>
              <a:buNone/>
            </a:pPr>
            <a:r>
              <a:rPr lang="en-US" sz="1600" dirty="0">
                <a:solidFill>
                  <a:srgbClr val="0E3A4A"/>
                </a:solidFill>
                <a:latin typeface="Hanken Grotesk" pitchFamily="34" charset="0"/>
                <a:ea typeface="Hanken Grotesk" pitchFamily="34" charset="-122"/>
                <a:cs typeface="Hanken Grotesk" pitchFamily="34" charset="-120"/>
              </a:rPr>
              <a:t>Mở </a:t>
            </a:r>
            <a:pPr algn="l" indent="0" marL="0">
              <a:lnSpc>
                <a:spcPct val="117000"/>
              </a:lnSpc>
              <a:buNone/>
            </a:pPr>
            <a:r>
              <a:rPr lang="en-US" sz="1600" b="1" dirty="0">
                <a:solidFill>
                  <a:srgbClr val="0E3A4A"/>
                </a:solidFill>
                <a:latin typeface="Hanken Grotesk Bold" pitchFamily="34" charset="0"/>
                <a:ea typeface="Hanken Grotesk Bold" pitchFamily="34" charset="-122"/>
                <a:cs typeface="Hanken Grotesk Bold" pitchFamily="34" charset="-120"/>
              </a:rPr>
              <a:t>Contacts</a:t>
            </a:r>
            <a:pPr algn="l" indent="0" marL="0">
              <a:lnSpc>
                <a:spcPct val="117000"/>
              </a:lnSpc>
              <a:buNone/>
            </a:pPr>
            <a:r>
              <a:rPr lang="en-US" sz="1600" dirty="0">
                <a:solidFill>
                  <a:srgbClr val="0E3A4A"/>
                </a:solidFill>
                <a:latin typeface="Hanken Grotesk" pitchFamily="34" charset="0"/>
                <a:ea typeface="Hanken Grotesk" pitchFamily="34" charset="-122"/>
                <a:cs typeface="Hanken Grotesk" pitchFamily="34" charset="-120"/>
              </a:rPr>
              <a:t> và chọn người cần gọi.</a:t>
            </a:r>
            <a:endParaRPr lang="en-US" sz="1600" dirty="0"/>
          </a:p>
        </p:txBody>
      </p:sp>
      <p:sp>
        <p:nvSpPr>
          <p:cNvPr id="8" name="Text 6"/>
          <p:cNvSpPr/>
          <p:nvPr/>
        </p:nvSpPr>
        <p:spPr>
          <a:xfrm>
            <a:off x="609585" y="3267472"/>
            <a:ext cx="889672" cy="228600"/>
          </a:xfrm>
          <a:prstGeom prst="rect">
            <a:avLst/>
          </a:prstGeom>
          <a:noFill/>
          <a:ln/>
        </p:spPr>
        <p:txBody>
          <a:bodyPr wrap="none" lIns="0" tIns="0" rIns="0" bIns="0" rtlCol="0" anchor="t"/>
          <a:lstStyle/>
          <a:p>
            <a:pPr algn="l" indent="0" marL="0">
              <a:lnSpc>
                <a:spcPct val="83000"/>
              </a:lnSpc>
              <a:buNone/>
            </a:pPr>
            <a:r>
              <a:rPr lang="en-US" sz="1800" i="1" dirty="0">
                <a:solidFill>
                  <a:srgbClr val="0E3A4A"/>
                </a:solidFill>
                <a:latin typeface="Fraunces SemiBold" pitchFamily="34" charset="0"/>
                <a:ea typeface="Fraunces SemiBold" pitchFamily="34" charset="-122"/>
                <a:cs typeface="Fraunces SemiBold" pitchFamily="34" charset="-120"/>
              </a:rPr>
              <a:t>03</a:t>
            </a:r>
            <a:endParaRPr lang="en-US" sz="1800" dirty="0"/>
          </a:p>
        </p:txBody>
      </p:sp>
      <p:sp>
        <p:nvSpPr>
          <p:cNvPr id="9" name="Text 7"/>
          <p:cNvSpPr/>
          <p:nvPr/>
        </p:nvSpPr>
        <p:spPr>
          <a:xfrm>
            <a:off x="1042068" y="3254772"/>
            <a:ext cx="10540042" cy="284460"/>
          </a:xfrm>
          <a:prstGeom prst="rect">
            <a:avLst/>
          </a:prstGeom>
          <a:noFill/>
          <a:ln/>
        </p:spPr>
        <p:txBody>
          <a:bodyPr wrap="none" lIns="0" tIns="0" rIns="0" bIns="0" rtlCol="0" anchor="t"/>
          <a:lstStyle/>
          <a:p>
            <a:pPr algn="l" indent="0" marL="0">
              <a:lnSpc>
                <a:spcPct val="117000"/>
              </a:lnSpc>
              <a:buNone/>
            </a:pPr>
            <a:r>
              <a:rPr lang="en-US" sz="1600" dirty="0">
                <a:solidFill>
                  <a:srgbClr val="0E3A4A"/>
                </a:solidFill>
                <a:latin typeface="Hanken Grotesk" pitchFamily="34" charset="0"/>
                <a:ea typeface="Hanken Grotesk" pitchFamily="34" charset="-122"/>
                <a:cs typeface="Hanken Grotesk" pitchFamily="34" charset="-120"/>
              </a:rPr>
              <a:t>Tạo hoặc xác định </a:t>
            </a:r>
            <a:pPr algn="l" indent="0" marL="0">
              <a:lnSpc>
                <a:spcPct val="117000"/>
              </a:lnSpc>
              <a:buNone/>
            </a:pPr>
            <a:r>
              <a:rPr lang="en-US" sz="1600" b="1" dirty="0">
                <a:solidFill>
                  <a:srgbClr val="0E3A4A"/>
                </a:solidFill>
                <a:latin typeface="Hanken Grotesk Bold" pitchFamily="34" charset="0"/>
                <a:ea typeface="Hanken Grotesk Bold" pitchFamily="34" charset="-122"/>
                <a:cs typeface="Hanken Grotesk Bold" pitchFamily="34" charset="-120"/>
              </a:rPr>
              <a:t>Call ID</a:t>
            </a:r>
            <a:pPr algn="l" indent="0" marL="0">
              <a:lnSpc>
                <a:spcPct val="117000"/>
              </a:lnSpc>
              <a:buNone/>
            </a:pPr>
            <a:r>
              <a:rPr lang="en-US" sz="1600" dirty="0">
                <a:solidFill>
                  <a:srgbClr val="0E3A4A"/>
                </a:solidFill>
                <a:latin typeface="Hanken Grotesk" pitchFamily="34" charset="0"/>
                <a:ea typeface="Hanken Grotesk" pitchFamily="34" charset="-122"/>
                <a:cs typeface="Hanken Grotesk" pitchFamily="34" charset="-120"/>
              </a:rPr>
              <a:t>.</a:t>
            </a:r>
            <a:endParaRPr lang="en-US" sz="1600" dirty="0"/>
          </a:p>
        </p:txBody>
      </p:sp>
      <p:sp>
        <p:nvSpPr>
          <p:cNvPr id="10" name="Text 8"/>
          <p:cNvSpPr/>
          <p:nvPr/>
        </p:nvSpPr>
        <p:spPr>
          <a:xfrm>
            <a:off x="609585" y="4009132"/>
            <a:ext cx="897907" cy="228600"/>
          </a:xfrm>
          <a:prstGeom prst="rect">
            <a:avLst/>
          </a:prstGeom>
          <a:noFill/>
          <a:ln/>
        </p:spPr>
        <p:txBody>
          <a:bodyPr wrap="none" lIns="0" tIns="0" rIns="0" bIns="0" rtlCol="0" anchor="t"/>
          <a:lstStyle/>
          <a:p>
            <a:pPr algn="l" indent="0" marL="0">
              <a:lnSpc>
                <a:spcPct val="83000"/>
              </a:lnSpc>
              <a:buNone/>
            </a:pPr>
            <a:r>
              <a:rPr lang="en-US" sz="1800" i="1" dirty="0">
                <a:solidFill>
                  <a:srgbClr val="0E3A4A"/>
                </a:solidFill>
                <a:latin typeface="Fraunces SemiBold" pitchFamily="34" charset="0"/>
                <a:ea typeface="Fraunces SemiBold" pitchFamily="34" charset="-122"/>
                <a:cs typeface="Fraunces SemiBold" pitchFamily="34" charset="-120"/>
              </a:rPr>
              <a:t>04</a:t>
            </a:r>
            <a:endParaRPr lang="en-US" sz="1800" dirty="0"/>
          </a:p>
        </p:txBody>
      </p:sp>
      <p:sp>
        <p:nvSpPr>
          <p:cNvPr id="11" name="Text 9"/>
          <p:cNvSpPr/>
          <p:nvPr/>
        </p:nvSpPr>
        <p:spPr>
          <a:xfrm>
            <a:off x="1050303" y="3996432"/>
            <a:ext cx="10531807" cy="284460"/>
          </a:xfrm>
          <a:prstGeom prst="rect">
            <a:avLst/>
          </a:prstGeom>
          <a:noFill/>
          <a:ln/>
        </p:spPr>
        <p:txBody>
          <a:bodyPr wrap="none" lIns="0" tIns="0" rIns="0" bIns="0" rtlCol="0" anchor="t"/>
          <a:lstStyle/>
          <a:p>
            <a:pPr algn="l" indent="0" marL="0">
              <a:lnSpc>
                <a:spcPct val="117000"/>
              </a:lnSpc>
              <a:buNone/>
            </a:pPr>
            <a:r>
              <a:rPr lang="en-US" sz="1600" dirty="0">
                <a:solidFill>
                  <a:srgbClr val="0E3A4A"/>
                </a:solidFill>
                <a:latin typeface="Hanken Grotesk" pitchFamily="34" charset="0"/>
                <a:ea typeface="Hanken Grotesk" pitchFamily="34" charset="-122"/>
                <a:cs typeface="Hanken Grotesk" pitchFamily="34" charset="-120"/>
              </a:rPr>
              <a:t>Khởi tạo SDK và kết nối vào cuộc gọi.</a:t>
            </a:r>
            <a:endParaRPr lang="en-US" sz="1600" dirty="0"/>
          </a:p>
        </p:txBody>
      </p:sp>
      <p:sp>
        <p:nvSpPr>
          <p:cNvPr id="12" name="Text 10"/>
          <p:cNvSpPr/>
          <p:nvPr/>
        </p:nvSpPr>
        <p:spPr>
          <a:xfrm>
            <a:off x="609585" y="4750792"/>
            <a:ext cx="893046" cy="228600"/>
          </a:xfrm>
          <a:prstGeom prst="rect">
            <a:avLst/>
          </a:prstGeom>
          <a:noFill/>
          <a:ln/>
        </p:spPr>
        <p:txBody>
          <a:bodyPr wrap="none" lIns="0" tIns="0" rIns="0" bIns="0" rtlCol="0" anchor="t"/>
          <a:lstStyle/>
          <a:p>
            <a:pPr algn="l" indent="0" marL="0">
              <a:lnSpc>
                <a:spcPct val="83000"/>
              </a:lnSpc>
              <a:buNone/>
            </a:pPr>
            <a:r>
              <a:rPr lang="en-US" sz="1800" i="1" dirty="0">
                <a:solidFill>
                  <a:srgbClr val="0E3A4A"/>
                </a:solidFill>
                <a:latin typeface="Fraunces SemiBold" pitchFamily="34" charset="0"/>
                <a:ea typeface="Fraunces SemiBold" pitchFamily="34" charset="-122"/>
                <a:cs typeface="Fraunces SemiBold" pitchFamily="34" charset="-120"/>
              </a:rPr>
              <a:t>05</a:t>
            </a:r>
            <a:endParaRPr lang="en-US" sz="1800" dirty="0"/>
          </a:p>
        </p:txBody>
      </p:sp>
      <p:sp>
        <p:nvSpPr>
          <p:cNvPr id="13" name="Text 11"/>
          <p:cNvSpPr/>
          <p:nvPr/>
        </p:nvSpPr>
        <p:spPr>
          <a:xfrm>
            <a:off x="1045442" y="4738092"/>
            <a:ext cx="10536668" cy="284460"/>
          </a:xfrm>
          <a:prstGeom prst="rect">
            <a:avLst/>
          </a:prstGeom>
          <a:noFill/>
          <a:ln/>
        </p:spPr>
        <p:txBody>
          <a:bodyPr wrap="none" lIns="0" tIns="0" rIns="0" bIns="0" rtlCol="0" anchor="t"/>
          <a:lstStyle/>
          <a:p>
            <a:pPr algn="l" indent="0" marL="0">
              <a:lnSpc>
                <a:spcPct val="117000"/>
              </a:lnSpc>
              <a:buNone/>
            </a:pPr>
            <a:r>
              <a:rPr lang="en-US" sz="1600" dirty="0">
                <a:solidFill>
                  <a:srgbClr val="0E3A4A"/>
                </a:solidFill>
                <a:latin typeface="Hanken Grotesk" pitchFamily="34" charset="0"/>
                <a:ea typeface="Hanken Grotesk" pitchFamily="34" charset="-122"/>
                <a:cs typeface="Hanken Grotesk" pitchFamily="34" charset="-120"/>
              </a:rPr>
              <a:t>Cấp quyền camera và microphone.</a:t>
            </a:r>
            <a:endParaRPr lang="en-US" sz="1600" dirty="0"/>
          </a:p>
        </p:txBody>
      </p:sp>
      <p:sp>
        <p:nvSpPr>
          <p:cNvPr id="14" name="Text 12"/>
          <p:cNvSpPr/>
          <p:nvPr/>
        </p:nvSpPr>
        <p:spPr>
          <a:xfrm>
            <a:off x="609585" y="5492452"/>
            <a:ext cx="902769" cy="228600"/>
          </a:xfrm>
          <a:prstGeom prst="rect">
            <a:avLst/>
          </a:prstGeom>
          <a:noFill/>
          <a:ln/>
        </p:spPr>
        <p:txBody>
          <a:bodyPr wrap="none" lIns="0" tIns="0" rIns="0" bIns="0" rtlCol="0" anchor="t"/>
          <a:lstStyle/>
          <a:p>
            <a:pPr algn="l" indent="0" marL="0">
              <a:lnSpc>
                <a:spcPct val="83000"/>
              </a:lnSpc>
              <a:buNone/>
            </a:pPr>
            <a:r>
              <a:rPr lang="en-US" sz="1800" i="1" dirty="0">
                <a:solidFill>
                  <a:srgbClr val="0E3A4A"/>
                </a:solidFill>
                <a:latin typeface="Fraunces SemiBold" pitchFamily="34" charset="0"/>
                <a:ea typeface="Fraunces SemiBold" pitchFamily="34" charset="-122"/>
                <a:cs typeface="Fraunces SemiBold" pitchFamily="34" charset="-120"/>
              </a:rPr>
              <a:t>06</a:t>
            </a:r>
            <a:endParaRPr lang="en-US" sz="1800" dirty="0"/>
          </a:p>
        </p:txBody>
      </p:sp>
      <p:sp>
        <p:nvSpPr>
          <p:cNvPr id="15" name="Text 13"/>
          <p:cNvSpPr/>
          <p:nvPr/>
        </p:nvSpPr>
        <p:spPr>
          <a:xfrm>
            <a:off x="1055165" y="5479752"/>
            <a:ext cx="10526945" cy="284460"/>
          </a:xfrm>
          <a:prstGeom prst="rect">
            <a:avLst/>
          </a:prstGeom>
          <a:noFill/>
          <a:ln/>
        </p:spPr>
        <p:txBody>
          <a:bodyPr wrap="none" lIns="0" tIns="0" rIns="0" bIns="0" rtlCol="0" anchor="t"/>
          <a:lstStyle/>
          <a:p>
            <a:pPr algn="l" indent="0" marL="0">
              <a:lnSpc>
                <a:spcPct val="117000"/>
              </a:lnSpc>
              <a:buNone/>
            </a:pPr>
            <a:r>
              <a:rPr lang="en-US" sz="1600" dirty="0">
                <a:solidFill>
                  <a:srgbClr val="0E3A4A"/>
                </a:solidFill>
                <a:latin typeface="Hanken Grotesk" pitchFamily="34" charset="0"/>
                <a:ea typeface="Hanken Grotesk" pitchFamily="34" charset="-122"/>
                <a:cs typeface="Hanken Grotesk" pitchFamily="34" charset="-120"/>
              </a:rPr>
              <a:t>Hiển thị local video, remote video và bắt đầu trao đổi thời gian thực.</a:t>
            </a:r>
            <a:endParaRPr lang="en-US" sz="1600" dirty="0"/>
          </a:p>
        </p:txBody>
      </p:sp>
      <p:sp>
        <p:nvSpPr>
          <p:cNvPr id="16" name="Text 14"/>
          <p:cNvSpPr/>
          <p:nvPr/>
        </p:nvSpPr>
        <p:spPr>
          <a:xfrm>
            <a:off x="609585" y="6234113"/>
            <a:ext cx="881933" cy="228600"/>
          </a:xfrm>
          <a:prstGeom prst="rect">
            <a:avLst/>
          </a:prstGeom>
          <a:noFill/>
          <a:ln/>
        </p:spPr>
        <p:txBody>
          <a:bodyPr wrap="none" lIns="0" tIns="0" rIns="0" bIns="0" rtlCol="0" anchor="t"/>
          <a:lstStyle/>
          <a:p>
            <a:pPr algn="l" indent="0" marL="0">
              <a:lnSpc>
                <a:spcPct val="83000"/>
              </a:lnSpc>
              <a:buNone/>
            </a:pPr>
            <a:r>
              <a:rPr lang="en-US" sz="1800" i="1" dirty="0">
                <a:solidFill>
                  <a:srgbClr val="0E3A4A"/>
                </a:solidFill>
                <a:latin typeface="Fraunces SemiBold" pitchFamily="34" charset="0"/>
                <a:ea typeface="Fraunces SemiBold" pitchFamily="34" charset="-122"/>
                <a:cs typeface="Fraunces SemiBold" pitchFamily="34" charset="-120"/>
              </a:rPr>
              <a:t>07</a:t>
            </a:r>
            <a:endParaRPr lang="en-US" sz="1800" dirty="0"/>
          </a:p>
        </p:txBody>
      </p:sp>
      <p:sp>
        <p:nvSpPr>
          <p:cNvPr id="17" name="Text 15"/>
          <p:cNvSpPr/>
          <p:nvPr/>
        </p:nvSpPr>
        <p:spPr>
          <a:xfrm>
            <a:off x="1034330" y="6221413"/>
            <a:ext cx="10547781" cy="284460"/>
          </a:xfrm>
          <a:prstGeom prst="rect">
            <a:avLst/>
          </a:prstGeom>
          <a:noFill/>
          <a:ln/>
        </p:spPr>
        <p:txBody>
          <a:bodyPr wrap="none" lIns="0" tIns="0" rIns="0" bIns="0" rtlCol="0" anchor="t"/>
          <a:lstStyle/>
          <a:p>
            <a:pPr algn="l" indent="0" marL="0">
              <a:lnSpc>
                <a:spcPct val="117000"/>
              </a:lnSpc>
              <a:buNone/>
            </a:pPr>
            <a:r>
              <a:rPr lang="en-US" sz="1600" dirty="0">
                <a:solidFill>
                  <a:srgbClr val="0E3A4A"/>
                </a:solidFill>
                <a:latin typeface="Hanken Grotesk" pitchFamily="34" charset="0"/>
                <a:ea typeface="Hanken Grotesk" pitchFamily="34" charset="-122"/>
                <a:cs typeface="Hanken Grotesk" pitchFamily="34" charset="-120"/>
              </a:rPr>
              <a:t>Nhấn </a:t>
            </a:r>
            <a:pPr algn="l" indent="0" marL="0">
              <a:lnSpc>
                <a:spcPct val="117000"/>
              </a:lnSpc>
              <a:buNone/>
            </a:pPr>
            <a:r>
              <a:rPr lang="en-US" sz="1600" b="1" dirty="0">
                <a:solidFill>
                  <a:srgbClr val="0E3A4A"/>
                </a:solidFill>
                <a:latin typeface="Hanken Grotesk Bold" pitchFamily="34" charset="0"/>
                <a:ea typeface="Hanken Grotesk Bold" pitchFamily="34" charset="-122"/>
                <a:cs typeface="Hanken Grotesk Bold" pitchFamily="34" charset="-120"/>
              </a:rPr>
              <a:t>End Call</a:t>
            </a:r>
            <a:pPr algn="l" indent="0" marL="0">
              <a:lnSpc>
                <a:spcPct val="117000"/>
              </a:lnSpc>
              <a:buNone/>
            </a:pPr>
            <a:r>
              <a:rPr lang="en-US" sz="1600" dirty="0">
                <a:solidFill>
                  <a:srgbClr val="0E3A4A"/>
                </a:solidFill>
                <a:latin typeface="Hanken Grotesk" pitchFamily="34" charset="0"/>
                <a:ea typeface="Hanken Grotesk" pitchFamily="34" charset="-122"/>
                <a:cs typeface="Hanken Grotesk" pitchFamily="34" charset="-120"/>
              </a:rPr>
              <a:t> để kết thúc và quay lại màn hình trước đó.</a:t>
            </a:r>
            <a:endParaRPr lang="en-US" sz="1600" dirty="0"/>
          </a:p>
        </p:txBody>
      </p:sp>
      <p:sp>
        <p:nvSpPr>
          <p:cNvPr id="18" name="Shape 16"/>
          <p:cNvSpPr/>
          <p:nvPr/>
        </p:nvSpPr>
        <p:spPr>
          <a:xfrm>
            <a:off x="609585" y="2278162"/>
            <a:ext cx="10972526" cy="12700"/>
          </a:xfrm>
          <a:prstGeom prst="rect">
            <a:avLst/>
          </a:prstGeom>
          <a:solidFill>
            <a:srgbClr val="808080">
              <a:alpha val="35000"/>
            </a:srgbClr>
          </a:solidFill>
          <a:ln/>
        </p:spPr>
      </p:sp>
      <p:sp>
        <p:nvSpPr>
          <p:cNvPr id="19" name="Shape 17"/>
          <p:cNvSpPr/>
          <p:nvPr/>
        </p:nvSpPr>
        <p:spPr>
          <a:xfrm>
            <a:off x="609585" y="3019822"/>
            <a:ext cx="10972526" cy="12700"/>
          </a:xfrm>
          <a:prstGeom prst="rect">
            <a:avLst/>
          </a:prstGeom>
          <a:solidFill>
            <a:srgbClr val="808080">
              <a:alpha val="35000"/>
            </a:srgbClr>
          </a:solidFill>
          <a:ln/>
        </p:spPr>
      </p:sp>
      <p:sp>
        <p:nvSpPr>
          <p:cNvPr id="20" name="Shape 18"/>
          <p:cNvSpPr/>
          <p:nvPr/>
        </p:nvSpPr>
        <p:spPr>
          <a:xfrm>
            <a:off x="609585" y="3761482"/>
            <a:ext cx="10972526" cy="12700"/>
          </a:xfrm>
          <a:prstGeom prst="rect">
            <a:avLst/>
          </a:prstGeom>
          <a:solidFill>
            <a:srgbClr val="808080">
              <a:alpha val="35000"/>
            </a:srgbClr>
          </a:solidFill>
          <a:ln/>
        </p:spPr>
      </p:sp>
      <p:sp>
        <p:nvSpPr>
          <p:cNvPr id="21" name="Shape 19"/>
          <p:cNvSpPr/>
          <p:nvPr/>
        </p:nvSpPr>
        <p:spPr>
          <a:xfrm>
            <a:off x="609585" y="4503142"/>
            <a:ext cx="10972526" cy="12700"/>
          </a:xfrm>
          <a:prstGeom prst="rect">
            <a:avLst/>
          </a:prstGeom>
          <a:solidFill>
            <a:srgbClr val="808080">
              <a:alpha val="35000"/>
            </a:srgbClr>
          </a:solidFill>
          <a:ln/>
        </p:spPr>
      </p:sp>
      <p:sp>
        <p:nvSpPr>
          <p:cNvPr id="22" name="Shape 20"/>
          <p:cNvSpPr/>
          <p:nvPr/>
        </p:nvSpPr>
        <p:spPr>
          <a:xfrm>
            <a:off x="609585" y="5244802"/>
            <a:ext cx="10972526" cy="12700"/>
          </a:xfrm>
          <a:prstGeom prst="rect">
            <a:avLst/>
          </a:prstGeom>
          <a:solidFill>
            <a:srgbClr val="808080">
              <a:alpha val="35000"/>
            </a:srgbClr>
          </a:solidFill>
          <a:ln/>
        </p:spPr>
      </p:sp>
      <p:sp>
        <p:nvSpPr>
          <p:cNvPr id="23" name="Shape 21"/>
          <p:cNvSpPr/>
          <p:nvPr/>
        </p:nvSpPr>
        <p:spPr>
          <a:xfrm>
            <a:off x="609585" y="5986463"/>
            <a:ext cx="10972526" cy="12700"/>
          </a:xfrm>
          <a:prstGeom prst="rect">
            <a:avLst/>
          </a:prstGeom>
          <a:solidFill>
            <a:srgbClr val="808080">
              <a:alpha val="35000"/>
            </a:srgbClr>
          </a:solidFill>
          <a:ln/>
        </p:spPr>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spTree>
      <p:nvGrpSpPr>
        <p:cNvPr id="1" name=""/>
        <p:cNvGrpSpPr/>
        <p:nvPr/>
      </p:nvGrpSpPr>
      <p:grpSpPr>
        <a:xfrm>
          <a:off x="0" y="0"/>
          <a:ext cx="0" cy="0"/>
          <a:chOff x="0" y="0"/>
          <a:chExt cx="0" cy="0"/>
        </a:xfrm>
      </p:grpSpPr>
      <p:sp>
        <p:nvSpPr>
          <p:cNvPr id="2" name="Text 0"/>
          <p:cNvSpPr/>
          <p:nvPr/>
        </p:nvSpPr>
        <p:spPr>
          <a:xfrm>
            <a:off x="609585" y="609600"/>
            <a:ext cx="11582110" cy="182860"/>
          </a:xfrm>
          <a:prstGeom prst="rect">
            <a:avLst/>
          </a:prstGeom>
          <a:noFill/>
          <a:ln/>
        </p:spPr>
        <p:txBody>
          <a:bodyPr wrap="none" lIns="0" tIns="0" rIns="0" bIns="0" rtlCol="0" anchor="t"/>
          <a:lstStyle/>
          <a:p>
            <a:pPr algn="l" indent="0" marL="0">
              <a:lnSpc>
                <a:spcPct val="100000"/>
              </a:lnSpc>
              <a:buNone/>
            </a:pPr>
            <a:r>
              <a:rPr lang="en-US" sz="1200" spc="144" kern="0" dirty="0">
                <a:solidFill>
                  <a:srgbClr val="0E3A4A"/>
                </a:solidFill>
                <a:latin typeface="Hanken Grotesk SemiBold" pitchFamily="34" charset="0"/>
                <a:ea typeface="Hanken Grotesk SemiBold" pitchFamily="34" charset="-122"/>
                <a:cs typeface="Hanken Grotesk SemiBold" pitchFamily="34" charset="-120"/>
              </a:rPr>
              <a:t>07 · TRẢI NGHIỆM NGƯỜI DÙNG</a:t>
            </a:r>
            <a:endParaRPr lang="en-US" sz="1200" dirty="0"/>
          </a:p>
        </p:txBody>
      </p:sp>
      <p:sp>
        <p:nvSpPr>
          <p:cNvPr id="3" name="Text 1"/>
          <p:cNvSpPr/>
          <p:nvPr/>
        </p:nvSpPr>
        <p:spPr>
          <a:xfrm>
            <a:off x="609585" y="884535"/>
            <a:ext cx="10972526" cy="1316633"/>
          </a:xfrm>
          <a:prstGeom prst="rect">
            <a:avLst/>
          </a:prstGeom>
          <a:noFill/>
          <a:ln/>
        </p:spPr>
        <p:txBody>
          <a:bodyPr wrap="square" lIns="0" tIns="0" rIns="0" bIns="0" rtlCol="0" anchor="t">
            <a:normAutofit/>
          </a:bodyPr>
          <a:lstStyle/>
          <a:p>
            <a:pPr algn="l" indent="0" marL="0">
              <a:lnSpc>
                <a:spcPct val="90000"/>
              </a:lnSpc>
              <a:buNone/>
            </a:pPr>
            <a:r>
              <a:rPr lang="en-US" sz="4800" spc="-58" kern="0" dirty="0">
                <a:solidFill>
                  <a:srgbClr val="0E3A4A"/>
                </a:solidFill>
                <a:latin typeface="Fraunces SemiBold" pitchFamily="34" charset="0"/>
                <a:ea typeface="Fraunces SemiBold" pitchFamily="34" charset="-122"/>
                <a:cs typeface="Fraunces SemiBold" pitchFamily="34" charset="-120"/>
              </a:rPr>
              <a:t>Trải nghiệm cuộc gọi tập trung vào những điều người dùng cần</a:t>
            </a:r>
            <a:endParaRPr lang="en-US" sz="4800" dirty="0"/>
          </a:p>
        </p:txBody>
      </p:sp>
      <p:sp>
        <p:nvSpPr>
          <p:cNvPr id="4" name="Shape 2"/>
          <p:cNvSpPr/>
          <p:nvPr/>
        </p:nvSpPr>
        <p:spPr>
          <a:xfrm>
            <a:off x="609585" y="2378968"/>
            <a:ext cx="2400240" cy="3358257"/>
          </a:xfrm>
          <a:prstGeom prst="roundRect">
            <a:avLst>
              <a:gd name="adj" fmla="val 476"/>
            </a:avLst>
          </a:prstGeom>
          <a:solidFill>
            <a:srgbClr val="DBEBE1"/>
          </a:solidFill>
          <a:ln/>
        </p:spPr>
      </p:sp>
      <p:pic>
        <p:nvPicPr>
          <p:cNvPr id="5" name="Image 0" descr="preencoded.png">    </p:cNvPr>
          <p:cNvPicPr>
            <a:picLocks noChangeAspect="1"/>
          </p:cNvPicPr>
          <p:nvPr/>
        </p:nvPicPr>
        <p:blipFill>
          <a:blip r:embed="rId1"/>
          <a:stretch>
            <a:fillRect/>
          </a:stretch>
        </p:blipFill>
        <p:spPr>
          <a:xfrm>
            <a:off x="838179" y="2607568"/>
            <a:ext cx="571486" cy="571500"/>
          </a:xfrm>
          <a:prstGeom prst="rect">
            <a:avLst/>
          </a:prstGeom>
        </p:spPr>
      </p:pic>
      <p:sp>
        <p:nvSpPr>
          <p:cNvPr id="6" name="Text 3"/>
          <p:cNvSpPr/>
          <p:nvPr/>
        </p:nvSpPr>
        <p:spPr>
          <a:xfrm>
            <a:off x="838179" y="3312418"/>
            <a:ext cx="1943051" cy="274241"/>
          </a:xfrm>
          <a:prstGeom prst="rect">
            <a:avLst/>
          </a:prstGeom>
          <a:noFill/>
          <a:ln/>
        </p:spPr>
        <p:txBody>
          <a:bodyPr wrap="none" lIns="0" tIns="0" rIns="0" bIns="0" rtlCol="0" anchor="t"/>
          <a:lstStyle/>
          <a:p>
            <a:pPr algn="l" indent="0" marL="0">
              <a:lnSpc>
                <a:spcPct val="100000"/>
              </a:lnSpc>
              <a:buNone/>
            </a:pPr>
            <a:r>
              <a:rPr lang="en-US" sz="1800" dirty="0">
                <a:solidFill>
                  <a:srgbClr val="0E3A4A"/>
                </a:solidFill>
                <a:latin typeface="Hanken Grotesk SemiBold" pitchFamily="34" charset="0"/>
                <a:ea typeface="Hanken Grotesk SemiBold" pitchFamily="34" charset="-122"/>
                <a:cs typeface="Hanken Grotesk SemiBold" pitchFamily="34" charset="-120"/>
              </a:rPr>
              <a:t>Remote video</a:t>
            </a:r>
            <a:endParaRPr lang="en-US" sz="1800" dirty="0"/>
          </a:p>
        </p:txBody>
      </p:sp>
      <p:sp>
        <p:nvSpPr>
          <p:cNvPr id="7" name="Text 4"/>
          <p:cNvSpPr/>
          <p:nvPr/>
        </p:nvSpPr>
        <p:spPr>
          <a:xfrm>
            <a:off x="838179" y="3751759"/>
            <a:ext cx="1943051" cy="959941"/>
          </a:xfrm>
          <a:prstGeom prst="rect">
            <a:avLst/>
          </a:prstGeom>
          <a:noFill/>
          <a:ln/>
        </p:spPr>
        <p:txBody>
          <a:bodyPr wrap="square" lIns="0" tIns="0" rIns="0" bIns="0" rtlCol="0" anchor="t">
            <a:normAutofit/>
          </a:bodyPr>
          <a:lstStyle/>
          <a:p>
            <a:pPr algn="l" indent="0" marL="0">
              <a:lnSpc>
                <a:spcPct val="117000"/>
              </a:lnSpc>
              <a:buNone/>
            </a:pPr>
            <a:r>
              <a:rPr lang="en-US" sz="1800" dirty="0">
                <a:solidFill>
                  <a:srgbClr val="0E3A4A"/>
                </a:solidFill>
                <a:latin typeface="Hanken Grotesk" pitchFamily="34" charset="0"/>
                <a:ea typeface="Hanken Grotesk" pitchFamily="34" charset="-122"/>
                <a:cs typeface="Hanken Grotesk" pitchFamily="34" charset="-120"/>
              </a:rPr>
              <a:t>Video người đối diện chiếm phần lớn màn hình.</a:t>
            </a:r>
            <a:endParaRPr lang="en-US" sz="1800" dirty="0"/>
          </a:p>
        </p:txBody>
      </p:sp>
      <p:sp>
        <p:nvSpPr>
          <p:cNvPr id="8" name="Shape 5"/>
          <p:cNvSpPr/>
          <p:nvPr/>
        </p:nvSpPr>
        <p:spPr>
          <a:xfrm>
            <a:off x="3467013" y="2378968"/>
            <a:ext cx="2400240" cy="3358257"/>
          </a:xfrm>
          <a:prstGeom prst="roundRect">
            <a:avLst>
              <a:gd name="adj" fmla="val 476"/>
            </a:avLst>
          </a:prstGeom>
          <a:solidFill>
            <a:srgbClr val="DBEBE1"/>
          </a:solidFill>
          <a:ln/>
        </p:spPr>
      </p:sp>
      <p:pic>
        <p:nvPicPr>
          <p:cNvPr id="9" name="Image 1" descr="preencoded.png">    </p:cNvPr>
          <p:cNvPicPr>
            <a:picLocks noChangeAspect="1"/>
          </p:cNvPicPr>
          <p:nvPr/>
        </p:nvPicPr>
        <p:blipFill>
          <a:blip r:embed="rId2"/>
          <a:stretch>
            <a:fillRect/>
          </a:stretch>
        </p:blipFill>
        <p:spPr>
          <a:xfrm>
            <a:off x="3695608" y="2607568"/>
            <a:ext cx="571486" cy="571500"/>
          </a:xfrm>
          <a:prstGeom prst="rect">
            <a:avLst/>
          </a:prstGeom>
        </p:spPr>
      </p:pic>
      <p:sp>
        <p:nvSpPr>
          <p:cNvPr id="10" name="Text 6"/>
          <p:cNvSpPr/>
          <p:nvPr/>
        </p:nvSpPr>
        <p:spPr>
          <a:xfrm>
            <a:off x="3695608" y="3312418"/>
            <a:ext cx="1943051" cy="274241"/>
          </a:xfrm>
          <a:prstGeom prst="rect">
            <a:avLst/>
          </a:prstGeom>
          <a:noFill/>
          <a:ln/>
        </p:spPr>
        <p:txBody>
          <a:bodyPr wrap="none" lIns="0" tIns="0" rIns="0" bIns="0" rtlCol="0" anchor="t"/>
          <a:lstStyle/>
          <a:p>
            <a:pPr algn="l" indent="0" marL="0">
              <a:lnSpc>
                <a:spcPct val="100000"/>
              </a:lnSpc>
              <a:buNone/>
            </a:pPr>
            <a:r>
              <a:rPr lang="en-US" sz="1800" dirty="0">
                <a:solidFill>
                  <a:srgbClr val="0E3A4A"/>
                </a:solidFill>
                <a:latin typeface="Hanken Grotesk SemiBold" pitchFamily="34" charset="0"/>
                <a:ea typeface="Hanken Grotesk SemiBold" pitchFamily="34" charset="-122"/>
                <a:cs typeface="Hanken Grotesk SemiBold" pitchFamily="34" charset="-120"/>
              </a:rPr>
              <a:t>Local preview</a:t>
            </a:r>
            <a:endParaRPr lang="en-US" sz="1800" dirty="0"/>
          </a:p>
        </p:txBody>
      </p:sp>
      <p:sp>
        <p:nvSpPr>
          <p:cNvPr id="11" name="Text 7"/>
          <p:cNvSpPr/>
          <p:nvPr/>
        </p:nvSpPr>
        <p:spPr>
          <a:xfrm>
            <a:off x="3695608" y="3751759"/>
            <a:ext cx="1943051" cy="959941"/>
          </a:xfrm>
          <a:prstGeom prst="rect">
            <a:avLst/>
          </a:prstGeom>
          <a:noFill/>
          <a:ln/>
        </p:spPr>
        <p:txBody>
          <a:bodyPr wrap="square" lIns="0" tIns="0" rIns="0" bIns="0" rtlCol="0" anchor="t">
            <a:normAutofit/>
          </a:bodyPr>
          <a:lstStyle/>
          <a:p>
            <a:pPr algn="l" indent="0" marL="0">
              <a:lnSpc>
                <a:spcPct val="117000"/>
              </a:lnSpc>
              <a:buNone/>
            </a:pPr>
            <a:r>
              <a:rPr lang="en-US" sz="1800" dirty="0">
                <a:solidFill>
                  <a:srgbClr val="0E3A4A"/>
                </a:solidFill>
                <a:latin typeface="Hanken Grotesk" pitchFamily="34" charset="0"/>
                <a:ea typeface="Hanken Grotesk" pitchFamily="34" charset="-122"/>
                <a:cs typeface="Hanken Grotesk" pitchFamily="34" charset="-120"/>
              </a:rPr>
              <a:t>Khung xem trước của mình nằm ở góc nhỏ.</a:t>
            </a:r>
            <a:endParaRPr lang="en-US" sz="1800" dirty="0"/>
          </a:p>
        </p:txBody>
      </p:sp>
      <p:sp>
        <p:nvSpPr>
          <p:cNvPr id="12" name="Shape 8"/>
          <p:cNvSpPr/>
          <p:nvPr/>
        </p:nvSpPr>
        <p:spPr>
          <a:xfrm>
            <a:off x="6324442" y="2378968"/>
            <a:ext cx="2400240" cy="3358257"/>
          </a:xfrm>
          <a:prstGeom prst="roundRect">
            <a:avLst>
              <a:gd name="adj" fmla="val 476"/>
            </a:avLst>
          </a:prstGeom>
          <a:solidFill>
            <a:srgbClr val="DBEBE1"/>
          </a:solidFill>
          <a:ln/>
        </p:spPr>
      </p:sp>
      <p:pic>
        <p:nvPicPr>
          <p:cNvPr id="13" name="Image 2" descr="preencoded.png">    </p:cNvPr>
          <p:cNvPicPr>
            <a:picLocks noChangeAspect="1"/>
          </p:cNvPicPr>
          <p:nvPr/>
        </p:nvPicPr>
        <p:blipFill>
          <a:blip r:embed="rId3"/>
          <a:stretch>
            <a:fillRect/>
          </a:stretch>
        </p:blipFill>
        <p:spPr>
          <a:xfrm>
            <a:off x="6553036" y="2607568"/>
            <a:ext cx="571486" cy="571500"/>
          </a:xfrm>
          <a:prstGeom prst="rect">
            <a:avLst/>
          </a:prstGeom>
        </p:spPr>
      </p:pic>
      <p:sp>
        <p:nvSpPr>
          <p:cNvPr id="14" name="Text 9"/>
          <p:cNvSpPr/>
          <p:nvPr/>
        </p:nvSpPr>
        <p:spPr>
          <a:xfrm>
            <a:off x="6553036" y="3312418"/>
            <a:ext cx="1943051" cy="274241"/>
          </a:xfrm>
          <a:prstGeom prst="rect">
            <a:avLst/>
          </a:prstGeom>
          <a:noFill/>
          <a:ln/>
        </p:spPr>
        <p:txBody>
          <a:bodyPr wrap="none" lIns="0" tIns="0" rIns="0" bIns="0" rtlCol="0" anchor="t"/>
          <a:lstStyle/>
          <a:p>
            <a:pPr algn="l" indent="0" marL="0">
              <a:lnSpc>
                <a:spcPct val="100000"/>
              </a:lnSpc>
              <a:buNone/>
            </a:pPr>
            <a:r>
              <a:rPr lang="en-US" sz="1800" dirty="0">
                <a:solidFill>
                  <a:srgbClr val="0E3A4A"/>
                </a:solidFill>
                <a:latin typeface="Hanken Grotesk SemiBold" pitchFamily="34" charset="0"/>
                <a:ea typeface="Hanken Grotesk SemiBold" pitchFamily="34" charset="-122"/>
                <a:cs typeface="Hanken Grotesk SemiBold" pitchFamily="34" charset="-120"/>
              </a:rPr>
              <a:t>Thông tin cuộc gọi</a:t>
            </a:r>
            <a:endParaRPr lang="en-US" sz="1800" dirty="0"/>
          </a:p>
        </p:txBody>
      </p:sp>
      <p:sp>
        <p:nvSpPr>
          <p:cNvPr id="15" name="Text 10"/>
          <p:cNvSpPr/>
          <p:nvPr/>
        </p:nvSpPr>
        <p:spPr>
          <a:xfrm>
            <a:off x="6553036" y="3751759"/>
            <a:ext cx="1943051" cy="959941"/>
          </a:xfrm>
          <a:prstGeom prst="rect">
            <a:avLst/>
          </a:prstGeom>
          <a:noFill/>
          <a:ln/>
        </p:spPr>
        <p:txBody>
          <a:bodyPr wrap="square" lIns="0" tIns="0" rIns="0" bIns="0" rtlCol="0" anchor="t">
            <a:normAutofit/>
          </a:bodyPr>
          <a:lstStyle/>
          <a:p>
            <a:pPr algn="l" indent="0" marL="0">
              <a:lnSpc>
                <a:spcPct val="117000"/>
              </a:lnSpc>
              <a:buNone/>
            </a:pPr>
            <a:r>
              <a:rPr lang="en-US" sz="1800" dirty="0">
                <a:solidFill>
                  <a:srgbClr val="0E3A4A"/>
                </a:solidFill>
                <a:latin typeface="Hanken Grotesk" pitchFamily="34" charset="0"/>
                <a:ea typeface="Hanken Grotesk" pitchFamily="34" charset="-122"/>
                <a:cs typeface="Hanken Grotesk" pitchFamily="34" charset="-120"/>
              </a:rPr>
              <a:t>Hiển thị tên người gọi và thời gian cuộc gọi.</a:t>
            </a:r>
            <a:endParaRPr lang="en-US" sz="1800" dirty="0"/>
          </a:p>
        </p:txBody>
      </p:sp>
      <p:sp>
        <p:nvSpPr>
          <p:cNvPr id="16" name="Shape 11"/>
          <p:cNvSpPr/>
          <p:nvPr/>
        </p:nvSpPr>
        <p:spPr>
          <a:xfrm>
            <a:off x="9181870" y="2378968"/>
            <a:ext cx="2400240" cy="3358257"/>
          </a:xfrm>
          <a:prstGeom prst="roundRect">
            <a:avLst>
              <a:gd name="adj" fmla="val 476"/>
            </a:avLst>
          </a:prstGeom>
          <a:solidFill>
            <a:srgbClr val="DBEBE1"/>
          </a:solidFill>
          <a:ln/>
        </p:spPr>
      </p:sp>
      <p:pic>
        <p:nvPicPr>
          <p:cNvPr id="17" name="Image 3" descr="preencoded.png">    </p:cNvPr>
          <p:cNvPicPr>
            <a:picLocks noChangeAspect="1"/>
          </p:cNvPicPr>
          <p:nvPr/>
        </p:nvPicPr>
        <p:blipFill>
          <a:blip r:embed="rId4"/>
          <a:stretch>
            <a:fillRect/>
          </a:stretch>
        </p:blipFill>
        <p:spPr>
          <a:xfrm>
            <a:off x="9410465" y="2607568"/>
            <a:ext cx="571486" cy="571500"/>
          </a:xfrm>
          <a:prstGeom prst="rect">
            <a:avLst/>
          </a:prstGeom>
        </p:spPr>
      </p:pic>
      <p:sp>
        <p:nvSpPr>
          <p:cNvPr id="18" name="Text 12"/>
          <p:cNvSpPr/>
          <p:nvPr/>
        </p:nvSpPr>
        <p:spPr>
          <a:xfrm>
            <a:off x="9410465" y="3312418"/>
            <a:ext cx="1943051" cy="274241"/>
          </a:xfrm>
          <a:prstGeom prst="rect">
            <a:avLst/>
          </a:prstGeom>
          <a:noFill/>
          <a:ln/>
        </p:spPr>
        <p:txBody>
          <a:bodyPr wrap="none" lIns="0" tIns="0" rIns="0" bIns="0" rtlCol="0" anchor="t"/>
          <a:lstStyle/>
          <a:p>
            <a:pPr algn="l" indent="0" marL="0">
              <a:lnSpc>
                <a:spcPct val="100000"/>
              </a:lnSpc>
              <a:buNone/>
            </a:pPr>
            <a:r>
              <a:rPr lang="en-US" sz="1800" dirty="0">
                <a:solidFill>
                  <a:srgbClr val="0E3A4A"/>
                </a:solidFill>
                <a:latin typeface="Hanken Grotesk SemiBold" pitchFamily="34" charset="0"/>
                <a:ea typeface="Hanken Grotesk SemiBold" pitchFamily="34" charset="-122"/>
                <a:cs typeface="Hanken Grotesk SemiBold" pitchFamily="34" charset="-120"/>
              </a:rPr>
              <a:t>Điều khiển chính</a:t>
            </a:r>
            <a:endParaRPr lang="en-US" sz="1800" dirty="0"/>
          </a:p>
        </p:txBody>
      </p:sp>
      <p:sp>
        <p:nvSpPr>
          <p:cNvPr id="19" name="Text 13"/>
          <p:cNvSpPr/>
          <p:nvPr/>
        </p:nvSpPr>
        <p:spPr>
          <a:xfrm>
            <a:off x="9410465" y="3751759"/>
            <a:ext cx="1943051" cy="1279922"/>
          </a:xfrm>
          <a:prstGeom prst="rect">
            <a:avLst/>
          </a:prstGeom>
          <a:noFill/>
          <a:ln/>
        </p:spPr>
        <p:txBody>
          <a:bodyPr wrap="square" lIns="0" tIns="0" rIns="0" bIns="0" rtlCol="0" anchor="t">
            <a:normAutofit/>
          </a:bodyPr>
          <a:lstStyle/>
          <a:p>
            <a:pPr algn="l" indent="0" marL="0">
              <a:lnSpc>
                <a:spcPct val="117000"/>
              </a:lnSpc>
              <a:buNone/>
            </a:pPr>
            <a:r>
              <a:rPr lang="en-US" sz="1800" dirty="0">
                <a:solidFill>
                  <a:srgbClr val="0E3A4A"/>
                </a:solidFill>
                <a:latin typeface="Hanken Grotesk" pitchFamily="34" charset="0"/>
                <a:ea typeface="Hanken Grotesk" pitchFamily="34" charset="-122"/>
                <a:cs typeface="Hanken Grotesk" pitchFamily="34" charset="-120"/>
              </a:rPr>
              <a:t>Microphone, camera, switch camera, speaker và end call.</a:t>
            </a:r>
            <a:endParaRPr lang="en-US" sz="1800" dirty="0"/>
          </a:p>
        </p:txBody>
      </p:sp>
      <p:sp>
        <p:nvSpPr>
          <p:cNvPr id="20" name="Text 14"/>
          <p:cNvSpPr/>
          <p:nvPr/>
        </p:nvSpPr>
        <p:spPr>
          <a:xfrm>
            <a:off x="609585" y="5915025"/>
            <a:ext cx="11582110" cy="333375"/>
          </a:xfrm>
          <a:prstGeom prst="rect">
            <a:avLst/>
          </a:prstGeom>
          <a:noFill/>
          <a:ln/>
        </p:spPr>
        <p:txBody>
          <a:bodyPr wrap="none" lIns="0" tIns="0" rIns="0" bIns="0" rtlCol="0" anchor="t"/>
          <a:lstStyle/>
          <a:p>
            <a:pPr algn="l" indent="0" marL="0">
              <a:lnSpc>
                <a:spcPct val="104000"/>
              </a:lnSpc>
              <a:buNone/>
            </a:pPr>
            <a:r>
              <a:rPr lang="en-US" sz="2100" i="1" dirty="0">
                <a:solidFill>
                  <a:srgbClr val="0E3A4A"/>
                </a:solidFill>
                <a:latin typeface="Fraunces" pitchFamily="34" charset="0"/>
                <a:ea typeface="Fraunces" pitchFamily="34" charset="-122"/>
                <a:cs typeface="Fraunces" pitchFamily="34" charset="-120"/>
              </a:rPr>
              <a:t>Mục tiêu: giao diện mobile đơn giản, dễ sử dụng và đủ cho demo.</a:t>
            </a:r>
            <a:endParaRPr lang="en-US" sz="210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spTree>
      <p:nvGrpSpPr>
        <p:cNvPr id="1" name=""/>
        <p:cNvGrpSpPr/>
        <p:nvPr/>
      </p:nvGrpSpPr>
      <p:grpSpPr>
        <a:xfrm>
          <a:off x="0" y="0"/>
          <a:ext cx="0" cy="0"/>
          <a:chOff x="0" y="0"/>
          <a:chExt cx="0" cy="0"/>
        </a:xfrm>
      </p:grpSpPr>
      <p:sp>
        <p:nvSpPr>
          <p:cNvPr id="2" name="Text 0"/>
          <p:cNvSpPr/>
          <p:nvPr/>
        </p:nvSpPr>
        <p:spPr>
          <a:xfrm>
            <a:off x="609585" y="609600"/>
            <a:ext cx="11582110" cy="182860"/>
          </a:xfrm>
          <a:prstGeom prst="rect">
            <a:avLst/>
          </a:prstGeom>
          <a:noFill/>
          <a:ln/>
        </p:spPr>
        <p:txBody>
          <a:bodyPr wrap="none" lIns="0" tIns="0" rIns="0" bIns="0" rtlCol="0" anchor="t"/>
          <a:lstStyle/>
          <a:p>
            <a:pPr algn="l" indent="0" marL="0">
              <a:lnSpc>
                <a:spcPct val="100000"/>
              </a:lnSpc>
              <a:buNone/>
            </a:pPr>
            <a:r>
              <a:rPr lang="en-US" sz="1200" spc="144" kern="0" dirty="0">
                <a:solidFill>
                  <a:srgbClr val="0E3A4A"/>
                </a:solidFill>
                <a:latin typeface="Hanken Grotesk SemiBold" pitchFamily="34" charset="0"/>
                <a:ea typeface="Hanken Grotesk SemiBold" pitchFamily="34" charset="-122"/>
                <a:cs typeface="Hanken Grotesk SemiBold" pitchFamily="34" charset="-120"/>
              </a:rPr>
              <a:t>08 · MỨC ĐỘ TÙY CHỈNH</a:t>
            </a:r>
            <a:endParaRPr lang="en-US" sz="1200" dirty="0"/>
          </a:p>
        </p:txBody>
      </p:sp>
      <p:sp>
        <p:nvSpPr>
          <p:cNvPr id="3" name="Text 1"/>
          <p:cNvSpPr/>
          <p:nvPr/>
        </p:nvSpPr>
        <p:spPr>
          <a:xfrm>
            <a:off x="609585" y="884535"/>
            <a:ext cx="10972526" cy="1316633"/>
          </a:xfrm>
          <a:prstGeom prst="rect">
            <a:avLst/>
          </a:prstGeom>
          <a:noFill/>
          <a:ln/>
        </p:spPr>
        <p:txBody>
          <a:bodyPr wrap="square" lIns="0" tIns="0" rIns="0" bIns="0" rtlCol="0" anchor="t">
            <a:normAutofit/>
          </a:bodyPr>
          <a:lstStyle/>
          <a:p>
            <a:pPr algn="l" indent="0" marL="0">
              <a:lnSpc>
                <a:spcPct val="90000"/>
              </a:lnSpc>
              <a:buNone/>
            </a:pPr>
            <a:r>
              <a:rPr lang="en-US" sz="4800" spc="-58" kern="0" dirty="0">
                <a:solidFill>
                  <a:srgbClr val="0E3A4A"/>
                </a:solidFill>
                <a:latin typeface="Fraunces SemiBold" pitchFamily="34" charset="0"/>
                <a:ea typeface="Fraunces SemiBold" pitchFamily="34" charset="-122"/>
                <a:cs typeface="Fraunces SemiBold" pitchFamily="34" charset="-120"/>
              </a:rPr>
              <a:t>Call Kit và Video Call SDK: nhanh để làm hay linh hoạt để tùy chỉnh?</a:t>
            </a:r>
            <a:endParaRPr lang="en-US" sz="4800" dirty="0"/>
          </a:p>
        </p:txBody>
      </p:sp>
      <p:graphicFrame>
        <p:nvGraphicFramePr>
          <p:cNvPr id="11" name="Table 0"/>
          <p:cNvGraphicFramePr>
            <a:graphicFrameLocks noGrp="1"/>
          </p:cNvGraphicFramePr>
          <p:nvPr>
            <p:extLst>
              <p:ext uri="{D42A27DB-BD31-4B8C-83A1-F6EECF244321}">
                <p14:modId xmlns:p14="http://schemas.microsoft.com/office/powerpoint/2010/main" val="1579011935"/>
              </p:ext>
            </p:extLst>
          </p:nvPr>
        </p:nvGraphicFramePr>
        <p:xfrm>
          <a:off x="609585" y="2378968"/>
          <a:ext cx="9143771" cy="914400"/>
        </p:xfrm>
        <a:graphic>
          <a:graphicData uri="http://schemas.openxmlformats.org/drawingml/2006/table">
            <a:tbl>
              <a:tblPr/>
              <a:tblGrid>
                <a:gridCol w="2743131"/>
                <a:gridCol w="4114697"/>
                <a:gridCol w="4114697"/>
              </a:tblGrid>
              <a:tr h="436849">
                <a:tc>
                  <a:txBody>
                    <a:bodyPr/>
                    <a:lstStyle/>
                    <a:p>
                      <a:pPr algn="l" indent="0" marL="0">
                        <a:buNone/>
                      </a:pPr>
                      <a:r>
                        <a:rPr lang="en-US" sz="1100" spc="132" kern="0" dirty="0">
                          <a:solidFill>
                            <a:srgbClr val="0E3A4A"/>
                          </a:solidFill>
                          <a:latin typeface="Hanken Grotesk" pitchFamily="34" charset="0"/>
                          <a:ea typeface="Hanken Grotesk" pitchFamily="34" charset="-122"/>
                          <a:cs typeface="Hanken Grotesk" pitchFamily="34" charset="-120"/>
                        </a:rPr>
                        <a:t>TIÊU CHÍ</a:t>
                      </a:r>
                      <a:endParaRPr lang="en-US" sz="1100" dirty="0">
                        <a:latin typeface="Hanken Grotesk" charset="0"/>
                        <a:ea typeface="Hanken Grotesk" charset="0"/>
                        <a:cs typeface="Hanken Grotesk" charset="0"/>
                      </a:endParaRPr>
                    </a:p>
                  </a:txBody>
                  <a:tcPr marL="171446" marR="171446" marT="114297" marB="114297" anchor="ctr">
                    <a:lnL w="12700" cap="flat" cmpd="sng" algn="ctr">
                      <a:solidFill>
                        <a:srgbClr val="EEF6F1"/>
                      </a:solidFill>
                      <a:prstDash val="solid"/>
                      <a:round/>
                      <a:headEnd type="none" w="med" len="med"/>
                      <a:tailEnd type="none" w="med" len="med"/>
                    </a:lnL>
                    <a:lnR w="12700" cap="flat" cmpd="sng" algn="ctr">
                      <a:solidFill>
                        <a:srgbClr val="EEF6F1"/>
                      </a:solidFill>
                      <a:prstDash val="solid"/>
                      <a:round/>
                      <a:headEnd type="none" w="med" len="med"/>
                      <a:tailEnd type="none" w="med" len="med"/>
                    </a:lnR>
                    <a:lnT w="12700" cap="flat" cmpd="sng" algn="ctr">
                      <a:solidFill>
                        <a:srgbClr val="EEF6F1"/>
                      </a:solidFill>
                      <a:prstDash val="solid"/>
                      <a:round/>
                      <a:headEnd type="none" w="med" len="med"/>
                      <a:tailEnd type="none" w="med" len="med"/>
                    </a:lnT>
                    <a:lnB w="12700" cap="flat" cmpd="sng" algn="ctr">
                      <a:solidFill>
                        <a:srgbClr val="0E3A4A"/>
                      </a:solidFill>
                      <a:prstDash val="solid"/>
                      <a:round/>
                      <a:headEnd type="none" w="med" len="med"/>
                      <a:tailEnd type="none" w="med" len="med"/>
                    </a:lnB>
                  </a:tcPr>
                </a:tc>
                <a:tc>
                  <a:txBody>
                    <a:bodyPr/>
                    <a:lstStyle/>
                    <a:p>
                      <a:pPr algn="l" indent="0" marL="0">
                        <a:buNone/>
                      </a:pPr>
                      <a:r>
                        <a:rPr lang="en-US" sz="1100" spc="132" kern="0" dirty="0">
                          <a:solidFill>
                            <a:srgbClr val="000000"/>
                          </a:solidFill>
                          <a:latin typeface="Hanken Grotesk" pitchFamily="34" charset="0"/>
                          <a:ea typeface="Hanken Grotesk" pitchFamily="34" charset="-122"/>
                          <a:cs typeface="Hanken Grotesk" pitchFamily="34" charset="-120"/>
                        </a:rPr>
                        <a:t>CALL KIT</a:t>
                      </a:r>
                      <a:endParaRPr lang="en-US" sz="1100" dirty="0">
                        <a:latin typeface="Hanken Grotesk" charset="0"/>
                        <a:ea typeface="Hanken Grotesk" charset="0"/>
                        <a:cs typeface="Hanken Grotesk" charset="0"/>
                      </a:endParaRPr>
                    </a:p>
                  </a:txBody>
                  <a:tcPr marL="171446" marR="171446" marT="114297" marB="114297" anchor="ctr">
                    <a:lnL w="12700" cap="flat" cmpd="sng" algn="ctr">
                      <a:solidFill>
                        <a:srgbClr val="FFD9CC"/>
                      </a:solidFill>
                      <a:prstDash val="solid"/>
                      <a:round/>
                      <a:headEnd type="none" w="med" len="med"/>
                      <a:tailEnd type="none" w="med" len="med"/>
                    </a:lnL>
                    <a:lnR w="12700" cap="flat" cmpd="sng" algn="ctr">
                      <a:solidFill>
                        <a:srgbClr val="FFD9CC"/>
                      </a:solidFill>
                      <a:prstDash val="solid"/>
                      <a:round/>
                      <a:headEnd type="none" w="med" len="med"/>
                      <a:tailEnd type="none" w="med" len="med"/>
                    </a:lnR>
                    <a:lnT w="12700" cap="flat" cmpd="sng" algn="ctr">
                      <a:solidFill>
                        <a:srgbClr val="FFD9CC"/>
                      </a:solidFill>
                      <a:prstDash val="solid"/>
                      <a:round/>
                      <a:headEnd type="none" w="med" len="med"/>
                      <a:tailEnd type="none" w="med" len="med"/>
                    </a:lnT>
                    <a:lnB w="12700" cap="flat" cmpd="sng" algn="ctr">
                      <a:solidFill>
                        <a:srgbClr val="0E3A4A"/>
                      </a:solidFill>
                      <a:prstDash val="solid"/>
                      <a:round/>
                      <a:headEnd type="none" w="med" len="med"/>
                      <a:tailEnd type="none" w="med" len="med"/>
                    </a:lnB>
                    <a:solidFill>
                      <a:srgbClr val="FFD9CC"/>
                    </a:solidFill>
                  </a:tcPr>
                </a:tc>
                <a:tc>
                  <a:txBody>
                    <a:bodyPr/>
                    <a:lstStyle/>
                    <a:p>
                      <a:pPr algn="l" indent="0" marL="0">
                        <a:buNone/>
                      </a:pPr>
                      <a:r>
                        <a:rPr lang="en-US" sz="1100" spc="132" kern="0" dirty="0">
                          <a:solidFill>
                            <a:srgbClr val="0E3A4A"/>
                          </a:solidFill>
                          <a:latin typeface="Hanken Grotesk" pitchFamily="34" charset="0"/>
                          <a:ea typeface="Hanken Grotesk" pitchFamily="34" charset="-122"/>
                          <a:cs typeface="Hanken Grotesk" pitchFamily="34" charset="-120"/>
                        </a:rPr>
                        <a:t>VIDEO CALL SDK</a:t>
                      </a:r>
                      <a:endParaRPr lang="en-US" sz="1100" dirty="0">
                        <a:latin typeface="Hanken Grotesk" charset="0"/>
                        <a:ea typeface="Hanken Grotesk" charset="0"/>
                        <a:cs typeface="Hanken Grotesk" charset="0"/>
                      </a:endParaRPr>
                    </a:p>
                  </a:txBody>
                  <a:tcPr marL="171446" marR="171446" marT="114297" marB="114297" anchor="ctr">
                    <a:lnL w="12700" cap="flat" cmpd="sng" algn="ctr">
                      <a:solidFill>
                        <a:srgbClr val="EEF6F1"/>
                      </a:solidFill>
                      <a:prstDash val="solid"/>
                      <a:round/>
                      <a:headEnd type="none" w="med" len="med"/>
                      <a:tailEnd type="none" w="med" len="med"/>
                    </a:lnL>
                    <a:lnR w="12700" cap="flat" cmpd="sng" algn="ctr">
                      <a:solidFill>
                        <a:srgbClr val="EEF6F1"/>
                      </a:solidFill>
                      <a:prstDash val="solid"/>
                      <a:round/>
                      <a:headEnd type="none" w="med" len="med"/>
                      <a:tailEnd type="none" w="med" len="med"/>
                    </a:lnR>
                    <a:lnT w="12700" cap="flat" cmpd="sng" algn="ctr">
                      <a:solidFill>
                        <a:srgbClr val="EEF6F1"/>
                      </a:solidFill>
                      <a:prstDash val="solid"/>
                      <a:round/>
                      <a:headEnd type="none" w="med" len="med"/>
                      <a:tailEnd type="none" w="med" len="med"/>
                    </a:lnT>
                    <a:lnB w="12700" cap="flat" cmpd="sng" algn="ctr">
                      <a:solidFill>
                        <a:srgbClr val="0E3A4A"/>
                      </a:solidFill>
                      <a:prstDash val="solid"/>
                      <a:round/>
                      <a:headEnd type="none" w="med" len="med"/>
                      <a:tailEnd type="none" w="med" len="med"/>
                    </a:lnB>
                  </a:tcPr>
                </a:tc>
              </a:tr>
              <a:tr h="1201211">
                <a:tc>
                  <a:txBody>
                    <a:bodyPr/>
                    <a:lstStyle/>
                    <a:p>
                      <a:pPr algn="l" indent="0" marL="0">
                        <a:buNone/>
                      </a:pPr>
                      <a:r>
                        <a:rPr lang="en-US" sz="1100" spc="132" kern="0" dirty="0">
                          <a:solidFill>
                            <a:srgbClr val="0E3A4A"/>
                          </a:solidFill>
                          <a:latin typeface="Hanken Grotesk" pitchFamily="34" charset="0"/>
                          <a:ea typeface="Hanken Grotesk" pitchFamily="34" charset="-122"/>
                          <a:cs typeface="Hanken Grotesk" pitchFamily="34" charset="-120"/>
                        </a:rPr>
                        <a:t>ĐIỂM MẠNH</a:t>
                      </a:r>
                      <a:endParaRPr lang="en-US" sz="1100" dirty="0">
                        <a:latin typeface="Hanken Grotesk" charset="0"/>
                        <a:ea typeface="Hanken Grotesk" charset="0"/>
                        <a:cs typeface="Hanken Grotesk" charset="0"/>
                      </a:endParaRPr>
                    </a:p>
                  </a:txBody>
                  <a:tcPr marL="171446" marR="171446" marT="114297" marB="114297" anchor="ctr">
                    <a:lnL w="12700" cap="flat" cmpd="sng" algn="ctr">
                      <a:solidFill>
                        <a:srgbClr val="EEF6F1"/>
                      </a:solidFill>
                      <a:prstDash val="solid"/>
                      <a:round/>
                      <a:headEnd type="none" w="med" len="med"/>
                      <a:tailEnd type="none" w="med" len="med"/>
                    </a:lnL>
                    <a:lnR w="12700" cap="flat" cmpd="sng" algn="ctr">
                      <a:solidFill>
                        <a:srgbClr val="EEF6F1"/>
                      </a:solidFill>
                      <a:prstDash val="solid"/>
                      <a:round/>
                      <a:headEnd type="none" w="med" len="med"/>
                      <a:tailEnd type="none" w="med" len="med"/>
                    </a:lnR>
                    <a:lnT w="12700" cap="flat" cmpd="sng" algn="ctr">
                      <a:solidFill>
                        <a:srgbClr val="0E3A4A"/>
                      </a:solidFill>
                      <a:prstDash val="solid"/>
                      <a:round/>
                      <a:headEnd type="none" w="med" len="med"/>
                      <a:tailEnd type="none" w="med" len="med"/>
                    </a:lnT>
                    <a:lnB w="12700" cap="flat" cmpd="sng" algn="ctr">
                      <a:solidFill>
                        <a:srgbClr val="0E3A4A"/>
                      </a:solidFill>
                      <a:prstDash val="solid"/>
                      <a:round/>
                      <a:headEnd type="none" w="med" len="med"/>
                      <a:tailEnd type="none" w="med" len="med"/>
                    </a:lnB>
                  </a:tcPr>
                </a:tc>
                <a:tc>
                  <a:txBody>
                    <a:bodyPr/>
                    <a:lstStyle/>
                    <a:p>
                      <a:pPr algn="l" indent="0" marL="0">
                        <a:buNone/>
                      </a:pPr>
                      <a:r>
                        <a:rPr lang="en-US" sz="1800" dirty="0">
                          <a:solidFill>
                            <a:srgbClr val="000000"/>
                          </a:solidFill>
                          <a:latin typeface="Hanken Grotesk" pitchFamily="34" charset="0"/>
                          <a:ea typeface="Hanken Grotesk" pitchFamily="34" charset="-122"/>
                          <a:cs typeface="Hanken Grotesk" pitchFamily="34" charset="-120"/>
                        </a:rPr>
                        <a:t>Có sẵn giao diện, business logic, quản lý thiết bị, participant list và nhiều chức năng gọi.</a:t>
                      </a:r>
                      <a:endParaRPr lang="en-US" sz="1800" dirty="0">
                        <a:latin typeface="Hanken Grotesk" charset="0"/>
                        <a:ea typeface="Hanken Grotesk" charset="0"/>
                        <a:cs typeface="Hanken Grotesk" charset="0"/>
                      </a:endParaRPr>
                    </a:p>
                  </a:txBody>
                  <a:tcPr marL="171446" marR="171446" marT="114297" marB="114297" anchor="ctr">
                    <a:lnL w="12700" cap="flat" cmpd="sng" algn="ctr">
                      <a:solidFill>
                        <a:srgbClr val="FFD9CC"/>
                      </a:solidFill>
                      <a:prstDash val="solid"/>
                      <a:round/>
                      <a:headEnd type="none" w="med" len="med"/>
                      <a:tailEnd type="none" w="med" len="med"/>
                    </a:lnL>
                    <a:lnR w="12700" cap="flat" cmpd="sng" algn="ctr">
                      <a:solidFill>
                        <a:srgbClr val="FFD9CC"/>
                      </a:solidFill>
                      <a:prstDash val="solid"/>
                      <a:round/>
                      <a:headEnd type="none" w="med" len="med"/>
                      <a:tailEnd type="none" w="med" len="med"/>
                    </a:lnR>
                    <a:lnT w="12700" cap="flat" cmpd="sng" algn="ctr">
                      <a:solidFill>
                        <a:srgbClr val="0E3A4A"/>
                      </a:solidFill>
                      <a:prstDash val="solid"/>
                      <a:round/>
                      <a:headEnd type="none" w="med" len="med"/>
                      <a:tailEnd type="none" w="med" len="med"/>
                    </a:lnT>
                    <a:lnB w="12700" cap="flat" cmpd="sng" algn="ctr">
                      <a:solidFill>
                        <a:srgbClr val="0E3A4A"/>
                      </a:solidFill>
                      <a:prstDash val="solid"/>
                      <a:round/>
                      <a:headEnd type="none" w="med" len="med"/>
                      <a:tailEnd type="none" w="med" len="med"/>
                    </a:lnB>
                    <a:solidFill>
                      <a:srgbClr val="FFD9CC"/>
                    </a:solidFill>
                  </a:tcPr>
                </a:tc>
                <a:tc>
                  <a:txBody>
                    <a:bodyPr/>
                    <a:lstStyle/>
                    <a:p>
                      <a:pPr algn="l" indent="0" marL="0">
                        <a:buNone/>
                      </a:pPr>
                      <a:r>
                        <a:rPr lang="en-US" sz="1800" dirty="0">
                          <a:solidFill>
                            <a:srgbClr val="0E3A4A"/>
                          </a:solidFill>
                          <a:latin typeface="Hanken Grotesk" pitchFamily="34" charset="0"/>
                          <a:ea typeface="Hanken Grotesk" pitchFamily="34" charset="-122"/>
                          <a:cs typeface="Hanken Grotesk" pitchFamily="34" charset="-120"/>
                        </a:rPr>
                        <a:t>Cung cấp API cấp thấp hơn để tự xây dựng local/remote video, camera, microphone và giao diện riêng.</a:t>
                      </a:r>
                      <a:endParaRPr lang="en-US" sz="1800" dirty="0">
                        <a:latin typeface="Hanken Grotesk" charset="0"/>
                        <a:ea typeface="Hanken Grotesk" charset="0"/>
                        <a:cs typeface="Hanken Grotesk" charset="0"/>
                      </a:endParaRPr>
                    </a:p>
                  </a:txBody>
                  <a:tcPr marL="171446" marR="171446" marT="114297" marB="114297" anchor="ctr">
                    <a:lnL w="12700" cap="flat" cmpd="sng" algn="ctr">
                      <a:solidFill>
                        <a:srgbClr val="EEF6F1"/>
                      </a:solidFill>
                      <a:prstDash val="solid"/>
                      <a:round/>
                      <a:headEnd type="none" w="med" len="med"/>
                      <a:tailEnd type="none" w="med" len="med"/>
                    </a:lnL>
                    <a:lnR w="12700" cap="flat" cmpd="sng" algn="ctr">
                      <a:solidFill>
                        <a:srgbClr val="EEF6F1"/>
                      </a:solidFill>
                      <a:prstDash val="solid"/>
                      <a:round/>
                      <a:headEnd type="none" w="med" len="med"/>
                      <a:tailEnd type="none" w="med" len="med"/>
                    </a:lnR>
                    <a:lnT w="12700" cap="flat" cmpd="sng" algn="ctr">
                      <a:solidFill>
                        <a:srgbClr val="0E3A4A"/>
                      </a:solidFill>
                      <a:prstDash val="solid"/>
                      <a:round/>
                      <a:headEnd type="none" w="med" len="med"/>
                      <a:tailEnd type="none" w="med" len="med"/>
                    </a:lnT>
                    <a:lnB w="12700" cap="flat" cmpd="sng" algn="ctr">
                      <a:solidFill>
                        <a:srgbClr val="0E3A4A"/>
                      </a:solidFill>
                      <a:prstDash val="solid"/>
                      <a:round/>
                      <a:headEnd type="none" w="med" len="med"/>
                      <a:tailEnd type="none" w="med" len="med"/>
                    </a:lnB>
                  </a:tcPr>
                </a:tc>
              </a:tr>
              <a:tr h="881239">
                <a:tc>
                  <a:txBody>
                    <a:bodyPr/>
                    <a:lstStyle/>
                    <a:p>
                      <a:pPr algn="l" indent="0" marL="0">
                        <a:buNone/>
                      </a:pPr>
                      <a:r>
                        <a:rPr lang="en-US" sz="1100" spc="132" kern="0" dirty="0">
                          <a:solidFill>
                            <a:srgbClr val="0E3A4A"/>
                          </a:solidFill>
                          <a:latin typeface="Hanken Grotesk" pitchFamily="34" charset="0"/>
                          <a:ea typeface="Hanken Grotesk" pitchFamily="34" charset="-122"/>
                          <a:cs typeface="Hanken Grotesk" pitchFamily="34" charset="-120"/>
                        </a:rPr>
                        <a:t>PHÙ HỢP KHI</a:t>
                      </a:r>
                      <a:endParaRPr lang="en-US" sz="1100" dirty="0">
                        <a:latin typeface="Hanken Grotesk" charset="0"/>
                        <a:ea typeface="Hanken Grotesk" charset="0"/>
                        <a:cs typeface="Hanken Grotesk" charset="0"/>
                      </a:endParaRPr>
                    </a:p>
                  </a:txBody>
                  <a:tcPr marL="171446" marR="171446" marT="114297" marB="114297" anchor="ctr">
                    <a:lnL w="12700" cap="flat" cmpd="sng" algn="ctr">
                      <a:solidFill>
                        <a:srgbClr val="EEF6F1"/>
                      </a:solidFill>
                      <a:prstDash val="solid"/>
                      <a:round/>
                      <a:headEnd type="none" w="med" len="med"/>
                      <a:tailEnd type="none" w="med" len="med"/>
                    </a:lnL>
                    <a:lnR w="12700" cap="flat" cmpd="sng" algn="ctr">
                      <a:solidFill>
                        <a:srgbClr val="EEF6F1"/>
                      </a:solidFill>
                      <a:prstDash val="solid"/>
                      <a:round/>
                      <a:headEnd type="none" w="med" len="med"/>
                      <a:tailEnd type="none" w="med" len="med"/>
                    </a:lnR>
                    <a:lnT w="12700" cap="flat" cmpd="sng" algn="ctr">
                      <a:solidFill>
                        <a:srgbClr val="0E3A4A"/>
                      </a:solidFill>
                      <a:prstDash val="solid"/>
                      <a:round/>
                      <a:headEnd type="none" w="med" len="med"/>
                      <a:tailEnd type="none" w="med" len="med"/>
                    </a:lnT>
                    <a:lnB w="12700" cap="flat" cmpd="sng" algn="ctr">
                      <a:solidFill>
                        <a:srgbClr val="0E3A4A"/>
                      </a:solidFill>
                      <a:prstDash val="solid"/>
                      <a:round/>
                      <a:headEnd type="none" w="med" len="med"/>
                      <a:tailEnd type="none" w="med" len="med"/>
                    </a:lnB>
                  </a:tcPr>
                </a:tc>
                <a:tc>
                  <a:txBody>
                    <a:bodyPr/>
                    <a:lstStyle/>
                    <a:p>
                      <a:pPr algn="l" indent="0" marL="0">
                        <a:buNone/>
                      </a:pPr>
                      <a:r>
                        <a:rPr lang="en-US" sz="1800" b="1" dirty="0">
                          <a:solidFill>
                            <a:srgbClr val="000000"/>
                          </a:solidFill>
                          <a:latin typeface="Hanken Grotesk" pitchFamily="34" charset="0"/>
                          <a:ea typeface="Hanken Grotesk" pitchFamily="34" charset="-122"/>
                          <a:cs typeface="Hanken Grotesk" pitchFamily="34" charset="-120"/>
                        </a:rPr>
                        <a:t>Prototype:</a:t>
                      </a:r>
                      <a:pPr algn="l" indent="0" marL="0">
                        <a:buNone/>
                      </a:pPr>
                      <a:r>
                        <a:rPr lang="en-US" sz="1800" b="1" dirty="0">
                          <a:solidFill>
                            <a:srgbClr val="000000"/>
                          </a:solidFill>
                          <a:latin typeface="Hanken Grotesk" pitchFamily="34" charset="0"/>
                          <a:ea typeface="Hanken Grotesk" pitchFamily="34" charset="-122"/>
                          <a:cs typeface="Hanken Grotesk" pitchFamily="34" charset="-120"/>
                        </a:rPr>
                        <a:t> giảm thời gian triển khai.</a:t>
                      </a:r>
                      <a:endParaRPr lang="en-US" sz="1800" dirty="0">
                        <a:latin typeface="Hanken Grotesk" charset="0"/>
                        <a:ea typeface="Hanken Grotesk" charset="0"/>
                        <a:cs typeface="Hanken Grotesk" charset="0"/>
                      </a:endParaRPr>
                    </a:p>
                  </a:txBody>
                  <a:tcPr marL="171446" marR="171446" marT="114297" marB="114297" anchor="ctr">
                    <a:lnL w="12700" cap="flat" cmpd="sng" algn="ctr">
                      <a:solidFill>
                        <a:srgbClr val="FFD9CC"/>
                      </a:solidFill>
                      <a:prstDash val="solid"/>
                      <a:round/>
                      <a:headEnd type="none" w="med" len="med"/>
                      <a:tailEnd type="none" w="med" len="med"/>
                    </a:lnL>
                    <a:lnR w="12700" cap="flat" cmpd="sng" algn="ctr">
                      <a:solidFill>
                        <a:srgbClr val="FFD9CC"/>
                      </a:solidFill>
                      <a:prstDash val="solid"/>
                      <a:round/>
                      <a:headEnd type="none" w="med" len="med"/>
                      <a:tailEnd type="none" w="med" len="med"/>
                    </a:lnR>
                    <a:lnT w="12700" cap="flat" cmpd="sng" algn="ctr">
                      <a:solidFill>
                        <a:srgbClr val="0E3A4A"/>
                      </a:solidFill>
                      <a:prstDash val="solid"/>
                      <a:round/>
                      <a:headEnd type="none" w="med" len="med"/>
                      <a:tailEnd type="none" w="med" len="med"/>
                    </a:lnT>
                    <a:lnB w="12700" cap="flat" cmpd="sng" algn="ctr">
                      <a:solidFill>
                        <a:srgbClr val="0E3A4A"/>
                      </a:solidFill>
                      <a:prstDash val="solid"/>
                      <a:round/>
                      <a:headEnd type="none" w="med" len="med"/>
                      <a:tailEnd type="none" w="med" len="med"/>
                    </a:lnB>
                    <a:solidFill>
                      <a:srgbClr val="FFD9CC"/>
                    </a:solidFill>
                  </a:tcPr>
                </a:tc>
                <a:tc>
                  <a:txBody>
                    <a:bodyPr/>
                    <a:lstStyle/>
                    <a:p>
                      <a:pPr algn="l" indent="0" marL="0">
                        <a:buNone/>
                      </a:pPr>
                      <a:r>
                        <a:rPr lang="en-US" sz="1800" b="1" dirty="0">
                          <a:solidFill>
                            <a:srgbClr val="0E3A4A"/>
                          </a:solidFill>
                          <a:latin typeface="Hanken Grotesk" pitchFamily="34" charset="0"/>
                          <a:ea typeface="Hanken Grotesk" pitchFamily="34" charset="-122"/>
                          <a:cs typeface="Hanken Grotesk" pitchFamily="34" charset="-120"/>
                        </a:rPr>
                        <a:t>Yêu cầu đặc thù:</a:t>
                      </a:r>
                      <a:pPr algn="l" indent="0" marL="0">
                        <a:buNone/>
                      </a:pPr>
                      <a:r>
                        <a:rPr lang="en-US" sz="1800" b="1" dirty="0">
                          <a:solidFill>
                            <a:srgbClr val="0E3A4A"/>
                          </a:solidFill>
                          <a:latin typeface="Hanken Grotesk" pitchFamily="34" charset="0"/>
                          <a:ea typeface="Hanken Grotesk" pitchFamily="34" charset="-122"/>
                          <a:cs typeface="Hanken Grotesk" pitchFamily="34" charset="-120"/>
                        </a:rPr>
                        <a:t> nhiều quyền kiểm soát hơn.</a:t>
                      </a:r>
                      <a:endParaRPr lang="en-US" sz="1800" dirty="0">
                        <a:latin typeface="Hanken Grotesk" charset="0"/>
                        <a:ea typeface="Hanken Grotesk" charset="0"/>
                        <a:cs typeface="Hanken Grotesk" charset="0"/>
                      </a:endParaRPr>
                    </a:p>
                  </a:txBody>
                  <a:tcPr marL="171446" marR="171446" marT="114297" marB="114297" anchor="ctr">
                    <a:lnL w="12700" cap="flat" cmpd="sng" algn="ctr">
                      <a:solidFill>
                        <a:srgbClr val="EEF6F1"/>
                      </a:solidFill>
                      <a:prstDash val="solid"/>
                      <a:round/>
                      <a:headEnd type="none" w="med" len="med"/>
                      <a:tailEnd type="none" w="med" len="med"/>
                    </a:lnL>
                    <a:lnR w="12700" cap="flat" cmpd="sng" algn="ctr">
                      <a:solidFill>
                        <a:srgbClr val="EEF6F1"/>
                      </a:solidFill>
                      <a:prstDash val="solid"/>
                      <a:round/>
                      <a:headEnd type="none" w="med" len="med"/>
                      <a:tailEnd type="none" w="med" len="med"/>
                    </a:lnR>
                    <a:lnT w="12700" cap="flat" cmpd="sng" algn="ctr">
                      <a:solidFill>
                        <a:srgbClr val="0E3A4A"/>
                      </a:solidFill>
                      <a:prstDash val="solid"/>
                      <a:round/>
                      <a:headEnd type="none" w="med" len="med"/>
                      <a:tailEnd type="none" w="med" len="med"/>
                    </a:lnT>
                    <a:lnB w="12700" cap="flat" cmpd="sng" algn="ctr">
                      <a:solidFill>
                        <a:srgbClr val="0E3A4A"/>
                      </a:solidFill>
                      <a:prstDash val="solid"/>
                      <a:round/>
                      <a:headEnd type="none" w="med" len="med"/>
                      <a:tailEnd type="none" w="med" len="med"/>
                    </a:lnB>
                  </a:tcPr>
                </a:tc>
              </a:tr>
              <a:tr h="868539">
                <a:tc>
                  <a:txBody>
                    <a:bodyPr/>
                    <a:lstStyle/>
                    <a:p>
                      <a:pPr algn="l" indent="0" marL="0">
                        <a:buNone/>
                      </a:pPr>
                      <a:r>
                        <a:rPr lang="en-US" sz="1100" spc="132" kern="0" dirty="0">
                          <a:solidFill>
                            <a:srgbClr val="0E3A4A"/>
                          </a:solidFill>
                          <a:latin typeface="Hanken Grotesk" pitchFamily="34" charset="0"/>
                          <a:ea typeface="Hanken Grotesk" pitchFamily="34" charset="-122"/>
                          <a:cs typeface="Hanken Grotesk" pitchFamily="34" charset="-120"/>
                        </a:rPr>
                        <a:t>LỰA CHỌN CỦA NHÓM</a:t>
                      </a:r>
                      <a:endParaRPr lang="en-US" sz="1100" dirty="0">
                        <a:latin typeface="Hanken Grotesk" charset="0"/>
                        <a:ea typeface="Hanken Grotesk" charset="0"/>
                        <a:cs typeface="Hanken Grotesk" charset="0"/>
                      </a:endParaRPr>
                    </a:p>
                  </a:txBody>
                  <a:tcPr marL="171446" marR="171446" marT="114297" marB="114297" anchor="ctr">
                    <a:lnL w="12700" cap="flat" cmpd="sng" algn="ctr">
                      <a:solidFill>
                        <a:srgbClr val="EEF6F1"/>
                      </a:solidFill>
                      <a:prstDash val="solid"/>
                      <a:round/>
                      <a:headEnd type="none" w="med" len="med"/>
                      <a:tailEnd type="none" w="med" len="med"/>
                    </a:lnL>
                    <a:lnR w="12700" cap="flat" cmpd="sng" algn="ctr">
                      <a:solidFill>
                        <a:srgbClr val="EEF6F1"/>
                      </a:solidFill>
                      <a:prstDash val="solid"/>
                      <a:round/>
                      <a:headEnd type="none" w="med" len="med"/>
                      <a:tailEnd type="none" w="med" len="med"/>
                    </a:lnR>
                    <a:lnT w="12700" cap="flat" cmpd="sng" algn="ctr">
                      <a:solidFill>
                        <a:srgbClr val="0E3A4A"/>
                      </a:solidFill>
                      <a:prstDash val="solid"/>
                      <a:round/>
                      <a:headEnd type="none" w="med" len="med"/>
                      <a:tailEnd type="none" w="med" len="med"/>
                    </a:lnT>
                    <a:lnB w="12700" cap="flat" cmpd="sng" algn="ctr">
                      <a:solidFill>
                        <a:srgbClr val="EEF6F1"/>
                      </a:solidFill>
                      <a:prstDash val="solid"/>
                      <a:round/>
                      <a:headEnd type="none" w="med" len="med"/>
                      <a:tailEnd type="none" w="med" len="med"/>
                    </a:lnB>
                  </a:tcPr>
                </a:tc>
                <a:tc>
                  <a:txBody>
                    <a:bodyPr/>
                    <a:lstStyle/>
                    <a:p>
                      <a:pPr algn="l" indent="0" marL="0">
                        <a:buNone/>
                      </a:pPr>
                      <a:r>
                        <a:rPr lang="en-US" sz="1800" b="1" dirty="0">
                          <a:solidFill>
                            <a:srgbClr val="000000"/>
                          </a:solidFill>
                          <a:latin typeface="Hanken Grotesk" pitchFamily="34" charset="0"/>
                          <a:ea typeface="Hanken Grotesk" pitchFamily="34" charset="-122"/>
                          <a:cs typeface="Hanken Grotesk" pitchFamily="34" charset="-120"/>
                        </a:rPr>
                        <a:t>Ưu tiên Call Kit</a:t>
                      </a:r>
                      <a:pPr algn="l" indent="0" marL="0">
                        <a:buNone/>
                      </a:pPr>
                      <a:r>
                        <a:rPr lang="en-US" sz="1800" b="1" dirty="0">
                          <a:solidFill>
                            <a:srgbClr val="000000"/>
                          </a:solidFill>
                          <a:latin typeface="Hanken Grotesk" pitchFamily="34" charset="0"/>
                          <a:ea typeface="Hanken Grotesk" pitchFamily="34" charset="-122"/>
                          <a:cs typeface="Hanken Grotesk" pitchFamily="34" charset="-120"/>
                        </a:rPr>
                        <a:t> cho demo.</a:t>
                      </a:r>
                      <a:endParaRPr lang="en-US" sz="1800" dirty="0">
                        <a:latin typeface="Hanken Grotesk" charset="0"/>
                        <a:ea typeface="Hanken Grotesk" charset="0"/>
                        <a:cs typeface="Hanken Grotesk" charset="0"/>
                      </a:endParaRPr>
                    </a:p>
                  </a:txBody>
                  <a:tcPr marL="171446" marR="171446" marT="114297" marB="114297" anchor="ctr">
                    <a:lnL w="12700" cap="flat" cmpd="sng" algn="ctr">
                      <a:solidFill>
                        <a:srgbClr val="FFD9CC"/>
                      </a:solidFill>
                      <a:prstDash val="solid"/>
                      <a:round/>
                      <a:headEnd type="none" w="med" len="med"/>
                      <a:tailEnd type="none" w="med" len="med"/>
                    </a:lnL>
                    <a:lnR w="12700" cap="flat" cmpd="sng" algn="ctr">
                      <a:solidFill>
                        <a:srgbClr val="FFD9CC"/>
                      </a:solidFill>
                      <a:prstDash val="solid"/>
                      <a:round/>
                      <a:headEnd type="none" w="med" len="med"/>
                      <a:tailEnd type="none" w="med" len="med"/>
                    </a:lnR>
                    <a:lnT w="12700" cap="flat" cmpd="sng" algn="ctr">
                      <a:solidFill>
                        <a:srgbClr val="0E3A4A"/>
                      </a:solidFill>
                      <a:prstDash val="solid"/>
                      <a:round/>
                      <a:headEnd type="none" w="med" len="med"/>
                      <a:tailEnd type="none" w="med" len="med"/>
                    </a:lnT>
                    <a:lnB w="12700" cap="flat" cmpd="sng" algn="ctr">
                      <a:solidFill>
                        <a:srgbClr val="FFD9CC"/>
                      </a:solidFill>
                      <a:prstDash val="solid"/>
                      <a:round/>
                      <a:headEnd type="none" w="med" len="med"/>
                      <a:tailEnd type="none" w="med" len="med"/>
                    </a:lnB>
                    <a:solidFill>
                      <a:srgbClr val="FFD9CC"/>
                    </a:solidFill>
                  </a:tcPr>
                </a:tc>
                <a:tc>
                  <a:txBody>
                    <a:bodyPr/>
                    <a:lstStyle/>
                    <a:p>
                      <a:pPr algn="l" indent="0" marL="0">
                        <a:buNone/>
                      </a:pPr>
                      <a:r>
                        <a:rPr lang="en-US" sz="1800" dirty="0">
                          <a:solidFill>
                            <a:srgbClr val="0E3A4A"/>
                          </a:solidFill>
                          <a:latin typeface="Hanken Grotesk" pitchFamily="34" charset="0"/>
                          <a:ea typeface="Hanken Grotesk" pitchFamily="34" charset="-122"/>
                          <a:cs typeface="Hanken Grotesk" pitchFamily="34" charset="-120"/>
                        </a:rPr>
                        <a:t>Có thể chuyển sang SDK cấp thấp khi yêu cầu tăng.</a:t>
                      </a:r>
                      <a:endParaRPr lang="en-US" sz="1800" dirty="0">
                        <a:latin typeface="Hanken Grotesk" charset="0"/>
                        <a:ea typeface="Hanken Grotesk" charset="0"/>
                        <a:cs typeface="Hanken Grotesk" charset="0"/>
                      </a:endParaRPr>
                    </a:p>
                  </a:txBody>
                  <a:tcPr marL="171446" marR="171446" marT="114297" marB="114297" anchor="ctr">
                    <a:lnL w="12700" cap="flat" cmpd="sng" algn="ctr">
                      <a:solidFill>
                        <a:srgbClr val="EEF6F1"/>
                      </a:solidFill>
                      <a:prstDash val="solid"/>
                      <a:round/>
                      <a:headEnd type="none" w="med" len="med"/>
                      <a:tailEnd type="none" w="med" len="med"/>
                    </a:lnL>
                    <a:lnR w="12700" cap="flat" cmpd="sng" algn="ctr">
                      <a:solidFill>
                        <a:srgbClr val="EEF6F1"/>
                      </a:solidFill>
                      <a:prstDash val="solid"/>
                      <a:round/>
                      <a:headEnd type="none" w="med" len="med"/>
                      <a:tailEnd type="none" w="med" len="med"/>
                    </a:lnR>
                    <a:lnT w="12700" cap="flat" cmpd="sng" algn="ctr">
                      <a:solidFill>
                        <a:srgbClr val="0E3A4A"/>
                      </a:solidFill>
                      <a:prstDash val="solid"/>
                      <a:round/>
                      <a:headEnd type="none" w="med" len="med"/>
                      <a:tailEnd type="none" w="med" len="med"/>
                    </a:lnT>
                    <a:lnB w="12700" cap="flat" cmpd="sng" algn="ctr">
                      <a:solidFill>
                        <a:srgbClr val="EEF6F1"/>
                      </a:solidFill>
                      <a:prstDash val="solid"/>
                      <a:round/>
                      <a:headEnd type="none" w="med" len="med"/>
                      <a:tailEnd type="none" w="med" len="med"/>
                    </a:lnB>
                  </a:tcPr>
                </a:tc>
              </a:tr>
            </a:tbl>
          </a:graphicData>
        </a:graphic>
      </p:graphicFrame>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spTree>
      <p:nvGrpSpPr>
        <p:cNvPr id="1" name=""/>
        <p:cNvGrpSpPr/>
        <p:nvPr/>
      </p:nvGrpSpPr>
      <p:grpSpPr>
        <a:xfrm>
          <a:off x="0" y="0"/>
          <a:ext cx="0" cy="0"/>
          <a:chOff x="0" y="0"/>
          <a:chExt cx="0" cy="0"/>
        </a:xfrm>
      </p:grpSpPr>
      <p:sp>
        <p:nvSpPr>
          <p:cNvPr id="2" name="Text 0"/>
          <p:cNvSpPr/>
          <p:nvPr/>
        </p:nvSpPr>
        <p:spPr>
          <a:xfrm>
            <a:off x="609585" y="609600"/>
            <a:ext cx="7924602" cy="182860"/>
          </a:xfrm>
          <a:prstGeom prst="rect">
            <a:avLst/>
          </a:prstGeom>
          <a:noFill/>
          <a:ln/>
        </p:spPr>
        <p:txBody>
          <a:bodyPr wrap="none" lIns="0" tIns="0" rIns="0" bIns="0" rtlCol="0" anchor="t"/>
          <a:lstStyle/>
          <a:p>
            <a:pPr algn="l" indent="0" marL="0">
              <a:lnSpc>
                <a:spcPct val="100000"/>
              </a:lnSpc>
              <a:buNone/>
            </a:pPr>
            <a:r>
              <a:rPr lang="en-US" sz="1200" spc="144" kern="0" dirty="0">
                <a:solidFill>
                  <a:srgbClr val="0E3A4A"/>
                </a:solidFill>
                <a:latin typeface="Hanken Grotesk SemiBold" pitchFamily="34" charset="0"/>
                <a:ea typeface="Hanken Grotesk SemiBold" pitchFamily="34" charset="-122"/>
                <a:cs typeface="Hanken Grotesk SemiBold" pitchFamily="34" charset="-120"/>
              </a:rPr>
              <a:t>09 · KẾT QUẢ</a:t>
            </a:r>
            <a:endParaRPr lang="en-US" sz="1200" dirty="0"/>
          </a:p>
        </p:txBody>
      </p:sp>
      <p:sp>
        <p:nvSpPr>
          <p:cNvPr id="3" name="Text 1"/>
          <p:cNvSpPr/>
          <p:nvPr/>
        </p:nvSpPr>
        <p:spPr>
          <a:xfrm>
            <a:off x="609585" y="884535"/>
            <a:ext cx="7315017" cy="1974949"/>
          </a:xfrm>
          <a:prstGeom prst="rect">
            <a:avLst/>
          </a:prstGeom>
          <a:noFill/>
          <a:ln/>
        </p:spPr>
        <p:txBody>
          <a:bodyPr wrap="square" lIns="0" tIns="0" rIns="0" bIns="0" rtlCol="0" anchor="t">
            <a:normAutofit/>
          </a:bodyPr>
          <a:lstStyle/>
          <a:p>
            <a:pPr algn="l" indent="0" marL="0">
              <a:lnSpc>
                <a:spcPct val="90000"/>
              </a:lnSpc>
              <a:buNone/>
            </a:pPr>
            <a:r>
              <a:rPr lang="en-US" sz="4800" spc="-58" kern="0" dirty="0">
                <a:solidFill>
                  <a:srgbClr val="0E3A4A"/>
                </a:solidFill>
                <a:latin typeface="Fraunces SemiBold" pitchFamily="34" charset="0"/>
                <a:ea typeface="Fraunces SemiBold" pitchFamily="34" charset="-122"/>
                <a:cs typeface="Fraunces SemiBold" pitchFamily="34" charset="-120"/>
              </a:rPr>
              <a:t>Kết quả: VCall đã chứng minh được luồng Video Call thời gian thực</a:t>
            </a:r>
            <a:endParaRPr lang="en-US" sz="4800" dirty="0"/>
          </a:p>
        </p:txBody>
      </p:sp>
      <p:sp>
        <p:nvSpPr>
          <p:cNvPr id="4" name="Shape 2"/>
          <p:cNvSpPr/>
          <p:nvPr/>
        </p:nvSpPr>
        <p:spPr>
          <a:xfrm>
            <a:off x="609585" y="3037284"/>
            <a:ext cx="400040" cy="400050"/>
          </a:xfrm>
          <a:prstGeom prst="roundRect">
            <a:avLst>
              <a:gd name="adj" fmla="val 17143"/>
            </a:avLst>
          </a:prstGeom>
          <a:noFill/>
          <a:ln w="25399">
            <a:solidFill>
              <a:srgbClr val="C1D1C7"/>
            </a:solidFill>
            <a:prstDash val="solid"/>
          </a:ln>
        </p:spPr>
      </p:sp>
      <p:sp>
        <p:nvSpPr>
          <p:cNvPr id="5" name="Text 3"/>
          <p:cNvSpPr/>
          <p:nvPr/>
        </p:nvSpPr>
        <p:spPr>
          <a:xfrm>
            <a:off x="758608" y="3123009"/>
            <a:ext cx="711579" cy="228600"/>
          </a:xfrm>
          <a:prstGeom prst="rect">
            <a:avLst/>
          </a:prstGeom>
          <a:noFill/>
          <a:ln/>
        </p:spPr>
        <p:txBody>
          <a:bodyPr wrap="none" lIns="0" tIns="0" rIns="0" bIns="0" rtlCol="0" anchor="t"/>
          <a:lstStyle/>
          <a:p>
            <a:pPr algn="l" indent="0" marL="0">
              <a:lnSpc>
                <a:spcPct val="83000"/>
              </a:lnSpc>
              <a:buNone/>
            </a:pPr>
            <a:r>
              <a:rPr lang="en-US" sz="1800" i="1" dirty="0">
                <a:solidFill>
                  <a:srgbClr val="0E3A4A"/>
                </a:solidFill>
                <a:latin typeface="Fraunces SemiBold" pitchFamily="34" charset="0"/>
                <a:ea typeface="Fraunces SemiBold" pitchFamily="34" charset="-122"/>
                <a:cs typeface="Fraunces SemiBold" pitchFamily="34" charset="-120"/>
              </a:rPr>
              <a:t>1</a:t>
            </a:r>
            <a:endParaRPr lang="en-US" sz="1800" dirty="0"/>
          </a:p>
        </p:txBody>
      </p:sp>
      <p:sp>
        <p:nvSpPr>
          <p:cNvPr id="6" name="Text 4"/>
          <p:cNvSpPr/>
          <p:nvPr/>
        </p:nvSpPr>
        <p:spPr>
          <a:xfrm>
            <a:off x="1162021" y="3084909"/>
            <a:ext cx="6762581" cy="639961"/>
          </a:xfrm>
          <a:prstGeom prst="rect">
            <a:avLst/>
          </a:prstGeom>
          <a:noFill/>
          <a:ln/>
        </p:spPr>
        <p:txBody>
          <a:bodyPr wrap="square" lIns="0" tIns="0" rIns="0" bIns="0" rtlCol="0" anchor="t">
            <a:normAutofit/>
          </a:bodyPr>
          <a:lstStyle/>
          <a:p>
            <a:pPr algn="l" indent="0" marL="0">
              <a:lnSpc>
                <a:spcPct val="117000"/>
              </a:lnSpc>
              <a:buNone/>
            </a:pPr>
            <a:r>
              <a:rPr lang="en-US" sz="1800" b="1" dirty="0">
                <a:solidFill>
                  <a:srgbClr val="0E3A4A"/>
                </a:solidFill>
                <a:latin typeface="Hanken Grotesk Bold" pitchFamily="34" charset="0"/>
                <a:ea typeface="Hanken Grotesk Bold" pitchFamily="34" charset="-122"/>
                <a:cs typeface="Hanken Grotesk Bold" pitchFamily="34" charset="-120"/>
              </a:rPr>
              <a:t>Đăng nhập</a:t>
            </a:r>
            <a:pPr algn="l" indent="0" marL="0">
              <a:lnSpc>
                <a:spcPct val="117000"/>
              </a:lnSpc>
              <a:buNone/>
            </a:pPr>
            <a:r>
              <a:rPr lang="en-US" sz="1800" dirty="0">
                <a:solidFill>
                  <a:srgbClr val="0E3A4A"/>
                </a:solidFill>
                <a:latin typeface="Hanken Grotesk" pitchFamily="34" charset="0"/>
                <a:ea typeface="Hanken Grotesk" pitchFamily="34" charset="-122"/>
                <a:cs typeface="Hanken Grotesk" pitchFamily="34" charset="-120"/>
              </a:rPr>
              <a:t> → chọn người dùng → bắt đầu cuộc gọi → kết nối hai người.</a:t>
            </a:r>
            <a:endParaRPr lang="en-US" sz="1800" dirty="0"/>
          </a:p>
        </p:txBody>
      </p:sp>
      <p:sp>
        <p:nvSpPr>
          <p:cNvPr id="7" name="Shape 5"/>
          <p:cNvSpPr/>
          <p:nvPr/>
        </p:nvSpPr>
        <p:spPr>
          <a:xfrm>
            <a:off x="609585" y="4182070"/>
            <a:ext cx="418792" cy="400050"/>
          </a:xfrm>
          <a:prstGeom prst="roundRect">
            <a:avLst>
              <a:gd name="adj" fmla="val 17142"/>
            </a:avLst>
          </a:prstGeom>
          <a:noFill/>
          <a:ln w="25399">
            <a:solidFill>
              <a:srgbClr val="C1D1C7"/>
            </a:solidFill>
            <a:prstDash val="solid"/>
          </a:ln>
        </p:spPr>
      </p:sp>
      <p:sp>
        <p:nvSpPr>
          <p:cNvPr id="8" name="Text 6"/>
          <p:cNvSpPr/>
          <p:nvPr/>
        </p:nvSpPr>
        <p:spPr>
          <a:xfrm>
            <a:off x="749281" y="4267795"/>
            <a:ext cx="748984" cy="228600"/>
          </a:xfrm>
          <a:prstGeom prst="rect">
            <a:avLst/>
          </a:prstGeom>
          <a:noFill/>
          <a:ln/>
        </p:spPr>
        <p:txBody>
          <a:bodyPr wrap="none" lIns="0" tIns="0" rIns="0" bIns="0" rtlCol="0" anchor="t"/>
          <a:lstStyle/>
          <a:p>
            <a:pPr algn="l" indent="0" marL="0">
              <a:lnSpc>
                <a:spcPct val="83000"/>
              </a:lnSpc>
              <a:buNone/>
            </a:pPr>
            <a:r>
              <a:rPr lang="en-US" sz="1800" i="1" dirty="0">
                <a:solidFill>
                  <a:srgbClr val="0E3A4A"/>
                </a:solidFill>
                <a:latin typeface="Fraunces SemiBold" pitchFamily="34" charset="0"/>
                <a:ea typeface="Fraunces SemiBold" pitchFamily="34" charset="-122"/>
                <a:cs typeface="Fraunces SemiBold" pitchFamily="34" charset="-120"/>
              </a:rPr>
              <a:t>2</a:t>
            </a:r>
            <a:endParaRPr lang="en-US" sz="1800" dirty="0"/>
          </a:p>
        </p:txBody>
      </p:sp>
      <p:sp>
        <p:nvSpPr>
          <p:cNvPr id="9" name="Text 7"/>
          <p:cNvSpPr/>
          <p:nvPr/>
        </p:nvSpPr>
        <p:spPr>
          <a:xfrm>
            <a:off x="1180773" y="4229695"/>
            <a:ext cx="6743829" cy="319980"/>
          </a:xfrm>
          <a:prstGeom prst="rect">
            <a:avLst/>
          </a:prstGeom>
          <a:noFill/>
          <a:ln/>
        </p:spPr>
        <p:txBody>
          <a:bodyPr wrap="none" lIns="0" tIns="0" rIns="0" bIns="0" rtlCol="0" anchor="t"/>
          <a:lstStyle/>
          <a:p>
            <a:pPr algn="l" indent="0" marL="0">
              <a:lnSpc>
                <a:spcPct val="117000"/>
              </a:lnSpc>
              <a:buNone/>
            </a:pPr>
            <a:r>
              <a:rPr lang="en-US" sz="1800" dirty="0">
                <a:solidFill>
                  <a:srgbClr val="0E3A4A"/>
                </a:solidFill>
                <a:latin typeface="Hanken Grotesk" pitchFamily="34" charset="0"/>
                <a:ea typeface="Hanken Grotesk" pitchFamily="34" charset="-122"/>
                <a:cs typeface="Hanken Grotesk" pitchFamily="34" charset="-120"/>
              </a:rPr>
              <a:t>Hiển thị </a:t>
            </a:r>
            <a:pPr algn="l" indent="0" marL="0">
              <a:lnSpc>
                <a:spcPct val="117000"/>
              </a:lnSpc>
              <a:buNone/>
            </a:pPr>
            <a:r>
              <a:rPr lang="en-US" sz="1800" b="1" dirty="0">
                <a:solidFill>
                  <a:srgbClr val="0E3A4A"/>
                </a:solidFill>
                <a:latin typeface="Hanken Grotesk Bold" pitchFamily="34" charset="0"/>
                <a:ea typeface="Hanken Grotesk Bold" pitchFamily="34" charset="-122"/>
                <a:cs typeface="Hanken Grotesk Bold" pitchFamily="34" charset="-120"/>
              </a:rPr>
              <a:t>local video</a:t>
            </a:r>
            <a:pPr algn="l" indent="0" marL="0">
              <a:lnSpc>
                <a:spcPct val="117000"/>
              </a:lnSpc>
              <a:buNone/>
            </a:pPr>
            <a:r>
              <a:rPr lang="en-US" sz="1800" dirty="0">
                <a:solidFill>
                  <a:srgbClr val="0E3A4A"/>
                </a:solidFill>
                <a:latin typeface="Hanken Grotesk" pitchFamily="34" charset="0"/>
                <a:ea typeface="Hanken Grotesk" pitchFamily="34" charset="-122"/>
                <a:cs typeface="Hanken Grotesk" pitchFamily="34" charset="-120"/>
              </a:rPr>
              <a:t> và </a:t>
            </a:r>
            <a:pPr algn="l" indent="0" marL="0">
              <a:lnSpc>
                <a:spcPct val="117000"/>
              </a:lnSpc>
              <a:buNone/>
            </a:pPr>
            <a:r>
              <a:rPr lang="en-US" sz="1800" b="1" dirty="0">
                <a:solidFill>
                  <a:srgbClr val="0E3A4A"/>
                </a:solidFill>
                <a:latin typeface="Hanken Grotesk Bold" pitchFamily="34" charset="0"/>
                <a:ea typeface="Hanken Grotesk Bold" pitchFamily="34" charset="-122"/>
                <a:cs typeface="Hanken Grotesk Bold" pitchFamily="34" charset="-120"/>
              </a:rPr>
              <a:t>remote video</a:t>
            </a:r>
            <a:pPr algn="l" indent="0" marL="0">
              <a:lnSpc>
                <a:spcPct val="117000"/>
              </a:lnSpc>
              <a:buNone/>
            </a:pPr>
            <a:r>
              <a:rPr lang="en-US" sz="1800" dirty="0">
                <a:solidFill>
                  <a:srgbClr val="0E3A4A"/>
                </a:solidFill>
                <a:latin typeface="Hanken Grotesk" pitchFamily="34" charset="0"/>
                <a:ea typeface="Hanken Grotesk" pitchFamily="34" charset="-122"/>
                <a:cs typeface="Hanken Grotesk" pitchFamily="34" charset="-120"/>
              </a:rPr>
              <a:t>.</a:t>
            </a:r>
            <a:endParaRPr lang="en-US" sz="1800" dirty="0"/>
          </a:p>
        </p:txBody>
      </p:sp>
      <p:sp>
        <p:nvSpPr>
          <p:cNvPr id="10" name="Shape 8"/>
          <p:cNvSpPr/>
          <p:nvPr/>
        </p:nvSpPr>
        <p:spPr>
          <a:xfrm>
            <a:off x="609585" y="5039320"/>
            <a:ext cx="406687" cy="400050"/>
          </a:xfrm>
          <a:prstGeom prst="roundRect">
            <a:avLst>
              <a:gd name="adj" fmla="val 17142"/>
            </a:avLst>
          </a:prstGeom>
          <a:noFill/>
          <a:ln w="25399">
            <a:solidFill>
              <a:srgbClr val="C1D1C7"/>
            </a:solidFill>
            <a:prstDash val="solid"/>
          </a:ln>
        </p:spPr>
      </p:sp>
      <p:sp>
        <p:nvSpPr>
          <p:cNvPr id="11" name="Text 9"/>
          <p:cNvSpPr/>
          <p:nvPr/>
        </p:nvSpPr>
        <p:spPr>
          <a:xfrm>
            <a:off x="749281" y="5125045"/>
            <a:ext cx="736879" cy="228600"/>
          </a:xfrm>
          <a:prstGeom prst="rect">
            <a:avLst/>
          </a:prstGeom>
          <a:noFill/>
          <a:ln/>
        </p:spPr>
        <p:txBody>
          <a:bodyPr wrap="none" lIns="0" tIns="0" rIns="0" bIns="0" rtlCol="0" anchor="t"/>
          <a:lstStyle/>
          <a:p>
            <a:pPr algn="l" indent="0" marL="0">
              <a:lnSpc>
                <a:spcPct val="83000"/>
              </a:lnSpc>
              <a:buNone/>
            </a:pPr>
            <a:r>
              <a:rPr lang="en-US" sz="1800" i="1" dirty="0">
                <a:solidFill>
                  <a:srgbClr val="0E3A4A"/>
                </a:solidFill>
                <a:latin typeface="Fraunces SemiBold" pitchFamily="34" charset="0"/>
                <a:ea typeface="Fraunces SemiBold" pitchFamily="34" charset="-122"/>
                <a:cs typeface="Fraunces SemiBold" pitchFamily="34" charset="-120"/>
              </a:rPr>
              <a:t>3</a:t>
            </a:r>
            <a:endParaRPr lang="en-US" sz="1800" dirty="0"/>
          </a:p>
        </p:txBody>
      </p:sp>
      <p:sp>
        <p:nvSpPr>
          <p:cNvPr id="12" name="Text 10"/>
          <p:cNvSpPr/>
          <p:nvPr/>
        </p:nvSpPr>
        <p:spPr>
          <a:xfrm>
            <a:off x="1168668" y="5086945"/>
            <a:ext cx="6755933" cy="639961"/>
          </a:xfrm>
          <a:prstGeom prst="rect">
            <a:avLst/>
          </a:prstGeom>
          <a:noFill/>
          <a:ln/>
        </p:spPr>
        <p:txBody>
          <a:bodyPr wrap="square" lIns="0" tIns="0" rIns="0" bIns="0" rtlCol="0" anchor="t">
            <a:normAutofit/>
          </a:bodyPr>
          <a:lstStyle/>
          <a:p>
            <a:pPr algn="l" indent="0" marL="0">
              <a:lnSpc>
                <a:spcPct val="117000"/>
              </a:lnSpc>
              <a:buNone/>
            </a:pPr>
            <a:r>
              <a:rPr lang="en-US" sz="1800" dirty="0">
                <a:solidFill>
                  <a:srgbClr val="0E3A4A"/>
                </a:solidFill>
                <a:latin typeface="Hanken Grotesk" pitchFamily="34" charset="0"/>
                <a:ea typeface="Hanken Grotesk" pitchFamily="34" charset="-122"/>
                <a:cs typeface="Hanken Grotesk" pitchFamily="34" charset="-120"/>
              </a:rPr>
              <a:t>Bật/tắt microphone, bật/tắt camera, chuyển camera và kết thúc cuộc gọi.</a:t>
            </a:r>
            <a:endParaRPr lang="en-US" sz="1800" dirty="0"/>
          </a:p>
        </p:txBody>
      </p:sp>
      <p:sp>
        <p:nvSpPr>
          <p:cNvPr id="13" name="Text 11"/>
          <p:cNvSpPr/>
          <p:nvPr/>
        </p:nvSpPr>
        <p:spPr>
          <a:xfrm>
            <a:off x="609585" y="5853906"/>
            <a:ext cx="7315017" cy="429220"/>
          </a:xfrm>
          <a:prstGeom prst="rect">
            <a:avLst/>
          </a:prstGeom>
          <a:noFill/>
          <a:ln/>
        </p:spPr>
        <p:txBody>
          <a:bodyPr wrap="square" lIns="0" tIns="0" rIns="0" bIns="0" rtlCol="0" anchor="t">
            <a:normAutofit/>
          </a:bodyPr>
          <a:lstStyle/>
          <a:p>
            <a:pPr algn="l" indent="0" marL="0">
              <a:lnSpc>
                <a:spcPct val="108000"/>
              </a:lnSpc>
              <a:buNone/>
            </a:pPr>
            <a:r>
              <a:rPr lang="en-US" sz="1300" dirty="0">
                <a:solidFill>
                  <a:srgbClr val="3F5F66"/>
                </a:solidFill>
                <a:latin typeface="Hanken Grotesk" pitchFamily="34" charset="0"/>
                <a:ea typeface="Hanken Grotesk" pitchFamily="34" charset="-122"/>
                <a:cs typeface="Hanken Grotesk" pitchFamily="34" charset="-120"/>
              </a:rPr>
              <a:t>Phạm vi demo chưa đi sâu vào media server riêng, tối ưu mạng cấp thấp, quy mô hàng nghìn người dùng hoặc bảo mật hoàn chỉnh.</a:t>
            </a:r>
            <a:endParaRPr lang="en-US" sz="1300" dirty="0"/>
          </a:p>
        </p:txBody>
      </p:sp>
      <p:pic>
        <p:nvPicPr>
          <p:cNvPr id="14" name="Image 0" descr="preencoded.png">    </p:cNvPr>
          <p:cNvPicPr>
            <a:picLocks noChangeAspect="1"/>
          </p:cNvPicPr>
          <p:nvPr/>
        </p:nvPicPr>
        <p:blipFill>
          <a:blip r:embed="rId1"/>
          <a:stretch>
            <a:fillRect/>
          </a:stretch>
        </p:blipFill>
        <p:spPr>
          <a:xfrm>
            <a:off x="8534187" y="0"/>
            <a:ext cx="3657509" cy="6892727"/>
          </a:xfrm>
          <a:prstGeom prst="rect">
            <a:avLst/>
          </a:prstGeom>
        </p:spPr>
      </p:pic>
      <p:sp>
        <p:nvSpPr>
          <p:cNvPr id="15" name="Shape 12"/>
          <p:cNvSpPr/>
          <p:nvPr/>
        </p:nvSpPr>
        <p:spPr>
          <a:xfrm>
            <a:off x="609585" y="3947120"/>
            <a:ext cx="7315017" cy="12700"/>
          </a:xfrm>
          <a:prstGeom prst="rect">
            <a:avLst/>
          </a:prstGeom>
          <a:solidFill>
            <a:srgbClr val="808080">
              <a:alpha val="35000"/>
            </a:srgbClr>
          </a:solidFill>
          <a:ln/>
        </p:spPr>
      </p:sp>
      <p:sp>
        <p:nvSpPr>
          <p:cNvPr id="16" name="Shape 13"/>
          <p:cNvSpPr/>
          <p:nvPr/>
        </p:nvSpPr>
        <p:spPr>
          <a:xfrm>
            <a:off x="609585" y="4804370"/>
            <a:ext cx="7315017" cy="12700"/>
          </a:xfrm>
          <a:prstGeom prst="rect">
            <a:avLst/>
          </a:prstGeom>
          <a:solidFill>
            <a:srgbClr val="808080">
              <a:alpha val="35000"/>
            </a:srgbClr>
          </a:solidFill>
          <a:ln/>
        </p:spPr>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11</Slides>
  <Notes>11</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11</vt:i4>
      </vt:variant>
    </vt:vector>
  </HeadingPairs>
  <TitlesOfParts>
    <vt:vector size="14"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lastModifiedBy/>
  <cp:revision>1</cp:revision>
  <dcterms:created xsi:type="dcterms:W3CDTF">2026-09-30T05:41:31Z</dcterms:created>
  <dcterms:modified xsi:type="dcterms:W3CDTF">2026-09-30T05:41:31Z</dcterms:modified>
</cp:coreProperties>
</file>